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60" r:id="rId5"/>
    <p:sldId id="269" r:id="rId6"/>
    <p:sldId id="300" r:id="rId7"/>
    <p:sldId id="306" r:id="rId8"/>
    <p:sldId id="323" r:id="rId9"/>
    <p:sldId id="322" r:id="rId10"/>
    <p:sldId id="315" r:id="rId11"/>
    <p:sldId id="327" r:id="rId12"/>
    <p:sldId id="312" r:id="rId13"/>
    <p:sldId id="316" r:id="rId14"/>
    <p:sldId id="307" r:id="rId15"/>
    <p:sldId id="276" r:id="rId16"/>
    <p:sldId id="325" r:id="rId17"/>
    <p:sldId id="326" r:id="rId18"/>
    <p:sldId id="317" r:id="rId19"/>
    <p:sldId id="318" r:id="rId20"/>
    <p:sldId id="319" r:id="rId21"/>
    <p:sldId id="321" r:id="rId22"/>
    <p:sldId id="320" r:id="rId23"/>
  </p:sldIdLst>
  <p:sldSz cx="9906000" cy="6858000" type="A4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1pPr>
    <a:lvl2pPr marL="457200" algn="ctr" rtl="0" fontAlgn="base">
      <a:spcBef>
        <a:spcPct val="0"/>
      </a:spcBef>
      <a:spcAft>
        <a:spcPct val="0"/>
      </a:spcAft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2pPr>
    <a:lvl3pPr marL="914400" algn="ctr" rtl="0" fontAlgn="base">
      <a:spcBef>
        <a:spcPct val="0"/>
      </a:spcBef>
      <a:spcAft>
        <a:spcPct val="0"/>
      </a:spcAft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3pPr>
    <a:lvl4pPr marL="1371600" algn="ctr" rtl="0" fontAlgn="base">
      <a:spcBef>
        <a:spcPct val="0"/>
      </a:spcBef>
      <a:spcAft>
        <a:spcPct val="0"/>
      </a:spcAft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4pPr>
    <a:lvl5pPr marL="1828800" algn="ctr" rtl="0" fontAlgn="base">
      <a:spcBef>
        <a:spcPct val="0"/>
      </a:spcBef>
      <a:spcAft>
        <a:spcPct val="0"/>
      </a:spcAft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5pPr>
    <a:lvl6pPr marL="2286000" algn="l" defTabSz="914400" rtl="0" eaLnBrk="1" latinLnBrk="0" hangingPunct="1"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6pPr>
    <a:lvl7pPr marL="2743200" algn="l" defTabSz="914400" rtl="0" eaLnBrk="1" latinLnBrk="0" hangingPunct="1"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7pPr>
    <a:lvl8pPr marL="3200400" algn="l" defTabSz="914400" rtl="0" eaLnBrk="1" latinLnBrk="0" hangingPunct="1"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8pPr>
    <a:lvl9pPr marL="3657600" algn="l" defTabSz="914400" rtl="0" eaLnBrk="1" latinLnBrk="0" hangingPunct="1">
      <a:defRPr sz="1400" kern="1200">
        <a:solidFill>
          <a:srgbClr val="384F70"/>
        </a:solidFill>
        <a:latin typeface="Gill Sans MT" panose="020B0502020104020203" pitchFamily="34" charset="0"/>
        <a:ea typeface="ヒラギノ角ゴ ProN W3"/>
        <a:cs typeface="ヒラギノ角ゴ ProN W3"/>
        <a:sym typeface="Gill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16C"/>
    <a:srgbClr val="2F425F"/>
    <a:srgbClr val="C7B08F"/>
    <a:srgbClr val="4A3B26"/>
    <a:srgbClr val="26364E"/>
    <a:srgbClr val="E4D9CA"/>
    <a:srgbClr val="B29366"/>
    <a:srgbClr val="27374F"/>
    <a:srgbClr val="172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78396" autoAdjust="0"/>
  </p:normalViewPr>
  <p:slideViewPr>
    <p:cSldViewPr>
      <p:cViewPr varScale="1">
        <p:scale>
          <a:sx n="54" d="100"/>
          <a:sy n="54" d="100"/>
        </p:scale>
        <p:origin x="1420" y="56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2083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/>
              </a:defRPr>
            </a:lvl1pPr>
          </a:lstStyle>
          <a:p>
            <a:endParaRPr lang="fr-FR" altLang="fr-FR"/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</a:defRPr>
            </a:lvl1pPr>
          </a:lstStyle>
          <a:p>
            <a:fld id="{6955FA37-346E-40E8-9A54-E7C3440EBD83}" type="datetime1">
              <a:rPr lang="fr-FR" altLang="fr-FR"/>
              <a:pPr/>
              <a:t>03/07/2025</a:t>
            </a:fld>
            <a:endParaRPr lang="fr-FR" altLang="fr-FR"/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/>
              </a:defRPr>
            </a:lvl1pPr>
          </a:lstStyle>
          <a:p>
            <a:endParaRPr lang="fr-FR" altLang="fr-FR"/>
          </a:p>
        </p:txBody>
      </p:sp>
      <p:sp>
        <p:nvSpPr>
          <p:cNvPr id="2334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</a:defRPr>
            </a:lvl1pPr>
          </a:lstStyle>
          <a:p>
            <a:fld id="{DE2BD68E-871F-4805-813D-8448EEE9EECA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/>
              </a:defRPr>
            </a:lvl1pPr>
          </a:lstStyle>
          <a:p>
            <a:endParaRPr lang="fr-FR" altLang="fr-F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</a:defRPr>
            </a:lvl1pPr>
          </a:lstStyle>
          <a:p>
            <a:fld id="{1B686F4C-AB95-4B0A-BCEE-8CCA9DA8DEA2}" type="datetime1">
              <a:rPr lang="fr-FR" altLang="fr-FR"/>
              <a:pPr/>
              <a:t>03/07/2025</a:t>
            </a:fld>
            <a:endParaRPr lang="fr-FR" altLang="fr-F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latin typeface="Gill Sans"/>
              </a:defRPr>
            </a:lvl1pPr>
          </a:lstStyle>
          <a:p>
            <a:endParaRPr lang="fr-FR" altLang="fr-F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Gill Sans"/>
              </a:defRPr>
            </a:lvl1pPr>
          </a:lstStyle>
          <a:p>
            <a:fld id="{533C7009-57F4-4924-A7B7-1C36D16E3CD9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32095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C7009-57F4-4924-A7B7-1C36D16E3CD9}" type="slidenum">
              <a:rPr lang="fr-FR" altLang="fr-FR" smtClean="0"/>
              <a:pPr/>
              <a:t>3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1996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0" dirty="0"/>
          </a:p>
        </p:txBody>
      </p:sp>
    </p:spTree>
    <p:extLst>
      <p:ext uri="{BB962C8B-B14F-4D97-AF65-F5344CB8AC3E}">
        <p14:creationId xmlns:p14="http://schemas.microsoft.com/office/powerpoint/2010/main" val="4264233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CCD70-11CD-3831-6D96-D4C9F1B8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C0DA2B09-60E0-B3F7-2E6A-07CDB79C8B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8B01F968-C61E-282A-7883-24197DBB7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0" dirty="0"/>
          </a:p>
        </p:txBody>
      </p:sp>
    </p:spTree>
    <p:extLst>
      <p:ext uri="{BB962C8B-B14F-4D97-AF65-F5344CB8AC3E}">
        <p14:creationId xmlns:p14="http://schemas.microsoft.com/office/powerpoint/2010/main" val="4167012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modèle permet de suivre l'accumulation des produits d'oxydation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C7009-57F4-4924-A7B7-1C36D16E3CD9}" type="slidenum">
              <a:rPr lang="fr-FR" altLang="fr-FR" smtClean="0"/>
              <a:pPr/>
              <a:t>6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1352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3C7009-57F4-4924-A7B7-1C36D16E3CD9}" type="slidenum">
              <a:rPr lang="fr-FR" altLang="fr-FR" smtClean="0"/>
              <a:pPr/>
              <a:t>8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718228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541578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406983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835D-F8CF-3D74-9330-510EB5E2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75E5A175-91A0-F8B0-CA3C-CFDBE0C0EA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2D6603B4-DE8A-65C5-D0B6-85D3F278B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334092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177C-9F15-A259-3E25-717696311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BBDEA95C-E883-C7BF-5C69-9C4FACA4AA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2D887411-8BEE-2594-234D-B9506CEA2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55858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ED55E-F875-C089-6C9D-75E96B17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B9F98CF7-0D72-E4FD-A01E-F28ACB29E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C0A663FB-1CED-C0AC-F3E4-536871FCC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2958427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A5706-0CB3-0746-AD13-EAD49C71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05F7271D-E45A-F45C-96CF-37781DAB82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625B14F2-91DF-EE5C-D0C2-7BB335BD0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1290963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CCDD-EB0D-C42B-55AB-7F876327A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A2EC319D-B074-47A5-1617-5366335B4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226D9288-5A77-1621-150E-EFCD541BB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2162322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9B56E-7365-1CD8-4745-D8863391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1A031874-CF86-A2F4-C5E0-70501086A1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842C4E1D-C106-3EC6-F4E0-34F159DDC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87660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10474-0AA9-29DB-AA94-09F50DCD9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>
            <a:extLst>
              <a:ext uri="{FF2B5EF4-FFF2-40B4-BE49-F238E27FC236}">
                <a16:creationId xmlns:a16="http://schemas.microsoft.com/office/drawing/2014/main" id="{6E56E828-4515-752C-9EE8-A18B77938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C7322BA-CA30-5300-314C-A20FB3AE3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2407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01750" y="3030538"/>
            <a:ext cx="14744700" cy="2090737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601913" y="5527675"/>
            <a:ext cx="1214437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83D97-74A6-4E42-AF18-19FCC126EDB9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9806656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630424-6175-453F-9066-6B3164F9651B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787432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0013" y="6267450"/>
            <a:ext cx="14746287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70013" y="4133850"/>
            <a:ext cx="14746287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089DF7-2939-45BA-9284-19133B29D224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215218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133600" y="6096000"/>
            <a:ext cx="6464300" cy="240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750300" y="6096000"/>
            <a:ext cx="6464300" cy="2400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CD79A1-F1E9-4AEB-8E24-9F747D5E634C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2237671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6775" y="390525"/>
            <a:ext cx="156146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66775" y="2182813"/>
            <a:ext cx="7666038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66775" y="3092450"/>
            <a:ext cx="7666038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8812213" y="2182813"/>
            <a:ext cx="7669212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8812213" y="3092450"/>
            <a:ext cx="7669212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287FB8-7C7F-4D82-AC7D-F119FF534775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6924357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31614E-1257-44CA-9FA9-DA20A862E8FD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600218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CE9D34-A965-4527-BA5F-34FEE3B4E7E4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518619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6775" y="388938"/>
            <a:ext cx="5708650" cy="165258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83388" y="388938"/>
            <a:ext cx="9698037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66775" y="2041525"/>
            <a:ext cx="5708650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405506-DB3D-49D4-B308-96C0C71AF77A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6437363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00425" y="6827838"/>
            <a:ext cx="10409238" cy="8064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3400425" y="871538"/>
            <a:ext cx="10409238" cy="5851525"/>
          </a:xfrm>
        </p:spPr>
        <p:txBody>
          <a:bodyPr lIns="50800" tIns="50800" rIns="50800" bIns="5080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>
              <a:sym typeface="Gill Sans" pitchFamily="-112" charset="0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00425" y="7634288"/>
            <a:ext cx="10409238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C925E-EAA2-4AE6-8622-4F5BFB3FD7E1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146079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E29323-7DE1-4EA6-8157-EAD8ADB83DDE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890325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1963400" y="1409700"/>
            <a:ext cx="3276600" cy="7086600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133600" y="1409700"/>
            <a:ext cx="9677400" cy="70866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86769-DF07-4FEB-8243-40A0E8563A52}" type="slidenum">
              <a:rPr lang="fr-FR" altLang="fr-FR"/>
              <a:pPr/>
              <a:t>‹#›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9457945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45455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/>
          </p:cNvSpPr>
          <p:nvPr userDrawn="1"/>
        </p:nvSpPr>
        <p:spPr bwMode="auto">
          <a:xfrm>
            <a:off x="1588" y="0"/>
            <a:ext cx="9901237" cy="6856413"/>
          </a:xfrm>
          <a:prstGeom prst="rect">
            <a:avLst/>
          </a:prstGeom>
          <a:gradFill rotWithShape="0">
            <a:gsLst>
              <a:gs pos="0">
                <a:srgbClr val="C1F1FF"/>
              </a:gs>
              <a:gs pos="100000">
                <a:srgbClr val="00102A"/>
              </a:gs>
            </a:gsLst>
            <a:lin ang="17640000" scaled="1"/>
          </a:gradFill>
          <a:ln w="25400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>
            <a:lvl1pPr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1pPr>
            <a:lvl2pPr marL="23460075" indent="-23177500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2pPr>
            <a:lvl3pPr marL="31977013" indent="-31411863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3pPr>
            <a:lvl4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4pPr>
            <a:lvl5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endParaRPr lang="fr-FR" altLang="fr-FR" sz="1400">
              <a:latin typeface="Gill Sans MT" panose="020B0502020104020203" pitchFamily="34" charset="0"/>
            </a:endParaRPr>
          </a:p>
        </p:txBody>
      </p:sp>
      <p:sp>
        <p:nvSpPr>
          <p:cNvPr id="1033" name="AutoShape 9"/>
          <p:cNvSpPr>
            <a:spLocks noChangeAspect="1"/>
          </p:cNvSpPr>
          <p:nvPr userDrawn="1"/>
        </p:nvSpPr>
        <p:spPr bwMode="auto">
          <a:xfrm>
            <a:off x="989013" y="171450"/>
            <a:ext cx="8720137" cy="6513513"/>
          </a:xfrm>
          <a:prstGeom prst="roundRect">
            <a:avLst>
              <a:gd name="adj" fmla="val 1986"/>
            </a:avLst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27000" dist="38100" algn="ctr" rotWithShape="0">
                    <a:schemeClr val="bg2">
                      <a:alpha val="75000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141288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1pPr>
            <a:lvl2pPr marL="23460075" indent="-23177500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2pPr>
            <a:lvl3pPr marL="31977013" indent="-31411863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3pPr>
            <a:lvl4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4pPr>
            <a:lvl5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endParaRPr lang="fr-FR" altLang="fr-FR" sz="3700" b="1">
              <a:solidFill>
                <a:srgbClr val="17212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Gill Sans MT" panose="020B0502020104020203" pitchFamily="34" charset="0"/>
            </a:endParaRPr>
          </a:p>
        </p:txBody>
      </p:sp>
      <p:sp>
        <p:nvSpPr>
          <p:cNvPr id="13" name="AutoShape 9"/>
          <p:cNvSpPr>
            <a:spLocks noChangeAspect="1"/>
          </p:cNvSpPr>
          <p:nvPr userDrawn="1"/>
        </p:nvSpPr>
        <p:spPr bwMode="auto">
          <a:xfrm>
            <a:off x="1084263" y="263525"/>
            <a:ext cx="8547100" cy="614363"/>
          </a:xfrm>
          <a:prstGeom prst="roundRect">
            <a:avLst>
              <a:gd name="adj" fmla="val 1388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0400" tIns="50400" rIns="50400" bIns="50400"/>
          <a:lstStyle>
            <a:lvl1pPr marL="141288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1pPr>
            <a:lvl2pPr marL="23460075" indent="-23177500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2pPr>
            <a:lvl3pPr marL="31977013" indent="-31411863" defTabSz="565150"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3pPr>
            <a:lvl4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4pPr>
            <a:lvl5pPr eaLnBrk="0" hangingPunct="0"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384F70"/>
                </a:solidFill>
                <a:latin typeface="Gill Sans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pPr eaLnBrk="1" hangingPunct="1"/>
            <a:endParaRPr lang="fr-FR" altLang="fr-FR" sz="2800" b="1">
              <a:solidFill>
                <a:srgbClr val="26364E"/>
              </a:solidFill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085850" y="263525"/>
            <a:ext cx="85471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>
                <a:sym typeface="Gill Sans"/>
              </a:rPr>
              <a:t>Click to edit Master title style</a:t>
            </a:r>
          </a:p>
        </p:txBody>
      </p:sp>
      <p:sp>
        <p:nvSpPr>
          <p:cNvPr id="2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46213" y="1160463"/>
            <a:ext cx="7804150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420" tIns="31420" rIns="31420" bIns="314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>
                <a:sym typeface="Gill Sans"/>
              </a:rPr>
              <a:t>Click to edit Master text styles</a:t>
            </a:r>
          </a:p>
          <a:p>
            <a:pPr lvl="1"/>
            <a:r>
              <a:rPr lang="en-US" altLang="fr-FR">
                <a:sym typeface="Gill Sans"/>
              </a:rPr>
              <a:t>Second level</a:t>
            </a:r>
          </a:p>
          <a:p>
            <a:pPr lvl="2"/>
            <a:r>
              <a:rPr lang="en-US" altLang="fr-FR">
                <a:sym typeface="Gill Sans"/>
              </a:rPr>
              <a:t>Third level</a:t>
            </a:r>
          </a:p>
          <a:p>
            <a:pPr lvl="3"/>
            <a:r>
              <a:rPr lang="en-US" altLang="fr-FR">
                <a:sym typeface="Gill Sans"/>
              </a:rPr>
              <a:t>Fourth level</a:t>
            </a:r>
          </a:p>
          <a:p>
            <a:pPr lvl="4"/>
            <a:r>
              <a:rPr lang="en-US" altLang="fr-FR">
                <a:sym typeface="Gill Sans"/>
              </a:rPr>
              <a:t>Fifth level</a:t>
            </a:r>
          </a:p>
        </p:txBody>
      </p:sp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0750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2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29713" y="6310313"/>
            <a:ext cx="560387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17212F"/>
                </a:solidFill>
              </a:defRPr>
            </a:lvl1pPr>
          </a:lstStyle>
          <a:p>
            <a:fld id="{9D412878-74A4-43EF-A83A-7385BF739D06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ctr" defTabSz="565150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2F425F"/>
          </a:solidFill>
          <a:effectLst>
            <a:outerShdw blurRad="38100" dist="38100" dir="2700000" algn="tl">
              <a:srgbClr val="DDDDDD"/>
            </a:outerShdw>
          </a:effectLst>
          <a:latin typeface="Gill Sans MT" panose="020B0502020104020203" pitchFamily="34" charset="0"/>
          <a:ea typeface="+mj-ea"/>
          <a:cs typeface="+mj-cs"/>
          <a:sym typeface="Gill Sans"/>
        </a:defRPr>
      </a:lvl1pPr>
      <a:lvl2pPr algn="ctr" defTabSz="565150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2F425F"/>
          </a:solidFill>
          <a:effectLst>
            <a:outerShdw blurRad="38100" dist="38100" dir="2700000" algn="tl">
              <a:srgbClr val="DDDDDD"/>
            </a:outerShdw>
          </a:effectLst>
          <a:latin typeface="Gill Sans MT" panose="020B0502020104020203" pitchFamily="34" charset="0"/>
          <a:ea typeface="ヒラギノ角ゴ ProN W6" pitchFamily="-112" charset="-128"/>
          <a:cs typeface="ヒラギノ角ゴ ProN W6" pitchFamily="-112" charset="-128"/>
          <a:sym typeface="Gill Sans"/>
        </a:defRPr>
      </a:lvl2pPr>
      <a:lvl3pPr algn="ctr" defTabSz="565150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2F425F"/>
          </a:solidFill>
          <a:effectLst>
            <a:outerShdw blurRad="38100" dist="38100" dir="2700000" algn="tl">
              <a:srgbClr val="DDDDDD"/>
            </a:outerShdw>
          </a:effectLst>
          <a:latin typeface="Gill Sans MT" panose="020B0502020104020203" pitchFamily="34" charset="0"/>
          <a:ea typeface="ヒラギノ角ゴ ProN W6" pitchFamily="-112" charset="-128"/>
          <a:cs typeface="ヒラギノ角ゴ ProN W6" pitchFamily="-112" charset="-128"/>
          <a:sym typeface="Gill Sans"/>
        </a:defRPr>
      </a:lvl3pPr>
      <a:lvl4pPr algn="ctr" defTabSz="565150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2F425F"/>
          </a:solidFill>
          <a:effectLst>
            <a:outerShdw blurRad="38100" dist="38100" dir="2700000" algn="tl">
              <a:srgbClr val="DDDDDD"/>
            </a:outerShdw>
          </a:effectLst>
          <a:latin typeface="Gill Sans MT" panose="020B0502020104020203" pitchFamily="34" charset="0"/>
          <a:ea typeface="ヒラギノ角ゴ ProN W6" pitchFamily="-112" charset="-128"/>
          <a:cs typeface="ヒラギノ角ゴ ProN W6" pitchFamily="-112" charset="-128"/>
          <a:sym typeface="Gill Sans"/>
        </a:defRPr>
      </a:lvl4pPr>
      <a:lvl5pPr algn="ctr" defTabSz="565150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2F425F"/>
          </a:solidFill>
          <a:effectLst>
            <a:outerShdw blurRad="38100" dist="38100" dir="2700000" algn="tl">
              <a:srgbClr val="DDDDDD"/>
            </a:outerShdw>
          </a:effectLst>
          <a:latin typeface="Gill Sans MT" panose="020B0502020104020203" pitchFamily="34" charset="0"/>
          <a:ea typeface="ヒラギノ角ゴ ProN W6" pitchFamily="-112" charset="-128"/>
          <a:cs typeface="ヒラギノ角ゴ ProN W6" pitchFamily="-112" charset="-128"/>
          <a:sym typeface="Gill Sans"/>
        </a:defRPr>
      </a:lvl5pPr>
      <a:lvl6pPr marL="457200" algn="ctr" rtl="0" fontAlgn="base">
        <a:spcBef>
          <a:spcPct val="0"/>
        </a:spcBef>
        <a:spcAft>
          <a:spcPct val="0"/>
        </a:spcAft>
        <a:defRPr sz="4100" b="1">
          <a:solidFill>
            <a:srgbClr val="436283"/>
          </a:solidFill>
          <a:effectLst>
            <a:outerShdw blurRad="38100" dist="38100" dir="2700000" algn="tl">
              <a:srgbClr val="DDDDDD"/>
            </a:outerShdw>
          </a:effectLst>
          <a:latin typeface="Gill Sans" pitchFamily="-112" charset="0"/>
          <a:ea typeface="ヒラギノ角ゴ ProN W6" pitchFamily="-112" charset="-128"/>
          <a:cs typeface="ヒラギノ角ゴ ProN W6" pitchFamily="-112" charset="-128"/>
          <a:sym typeface="Gill Sans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100" b="1">
          <a:solidFill>
            <a:srgbClr val="436283"/>
          </a:solidFill>
          <a:effectLst>
            <a:outerShdw blurRad="38100" dist="38100" dir="2700000" algn="tl">
              <a:srgbClr val="DDDDDD"/>
            </a:outerShdw>
          </a:effectLst>
          <a:latin typeface="Gill Sans" pitchFamily="-112" charset="0"/>
          <a:ea typeface="ヒラギノ角ゴ ProN W6" pitchFamily="-112" charset="-128"/>
          <a:cs typeface="ヒラギノ角ゴ ProN W6" pitchFamily="-112" charset="-128"/>
          <a:sym typeface="Gill Sans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100" b="1">
          <a:solidFill>
            <a:srgbClr val="436283"/>
          </a:solidFill>
          <a:effectLst>
            <a:outerShdw blurRad="38100" dist="38100" dir="2700000" algn="tl">
              <a:srgbClr val="DDDDDD"/>
            </a:outerShdw>
          </a:effectLst>
          <a:latin typeface="Gill Sans" pitchFamily="-112" charset="0"/>
          <a:ea typeface="ヒラギノ角ゴ ProN W6" pitchFamily="-112" charset="-128"/>
          <a:cs typeface="ヒラギノ角ゴ ProN W6" pitchFamily="-112" charset="-128"/>
          <a:sym typeface="Gill Sans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100" b="1">
          <a:solidFill>
            <a:srgbClr val="436283"/>
          </a:solidFill>
          <a:effectLst>
            <a:outerShdw blurRad="38100" dist="38100" dir="2700000" algn="tl">
              <a:srgbClr val="DDDDDD"/>
            </a:outerShdw>
          </a:effectLst>
          <a:latin typeface="Gill Sans" pitchFamily="-112" charset="0"/>
          <a:ea typeface="ヒラギノ角ゴ ProN W6" pitchFamily="-112" charset="-128"/>
          <a:cs typeface="ヒラギノ角ゴ ProN W6" pitchFamily="-112" charset="-128"/>
          <a:sym typeface="Gill Sans" pitchFamily="-112" charset="0"/>
        </a:defRPr>
      </a:lvl9pPr>
    </p:titleStyle>
    <p:bodyStyle>
      <a:lvl1pPr marL="212725" indent="-212725" algn="ctr" defTabSz="565150" rtl="0" eaLnBrk="0" fontAlgn="base" hangingPunct="0">
        <a:spcBef>
          <a:spcPts val="500"/>
        </a:spcBef>
        <a:spcAft>
          <a:spcPct val="0"/>
        </a:spcAft>
        <a:defRPr sz="2000">
          <a:solidFill>
            <a:srgbClr val="2F425F"/>
          </a:solidFill>
          <a:latin typeface="Gill Sans MT" panose="020B0502020104020203" pitchFamily="34" charset="0"/>
          <a:ea typeface="+mn-ea"/>
          <a:cs typeface="+mn-cs"/>
          <a:sym typeface="Gill Sans"/>
        </a:defRPr>
      </a:lvl1pPr>
      <a:lvl2pPr marL="458788" indent="-176213" algn="ctr" defTabSz="565150" rtl="0" eaLnBrk="0" fontAlgn="base" hangingPunct="0">
        <a:spcBef>
          <a:spcPts val="500"/>
        </a:spcBef>
        <a:spcAft>
          <a:spcPct val="0"/>
        </a:spcAft>
        <a:defRPr>
          <a:solidFill>
            <a:srgbClr val="2F425F"/>
          </a:solidFill>
          <a:latin typeface="Gill Sans MT" panose="020B0502020104020203" pitchFamily="34" charset="0"/>
          <a:ea typeface="+mn-ea"/>
          <a:cs typeface="+mn-cs"/>
          <a:sym typeface="Gill Sans"/>
        </a:defRPr>
      </a:lvl2pPr>
      <a:lvl3pPr marL="706438" indent="-141288" algn="ctr" defTabSz="565150" rtl="0" eaLnBrk="0" fontAlgn="base" hangingPunct="0">
        <a:spcBef>
          <a:spcPts val="500"/>
        </a:spcBef>
        <a:spcAft>
          <a:spcPct val="0"/>
        </a:spcAft>
        <a:defRPr sz="1600">
          <a:solidFill>
            <a:srgbClr val="2F425F"/>
          </a:solidFill>
          <a:latin typeface="Gill Sans MT" panose="020B0502020104020203" pitchFamily="34" charset="0"/>
          <a:ea typeface="+mn-ea"/>
          <a:cs typeface="+mn-cs"/>
          <a:sym typeface="Gill Sans"/>
        </a:defRPr>
      </a:lvl3pPr>
      <a:lvl4pPr marL="989013" indent="-141288" algn="ctr" defTabSz="565150" rtl="0" eaLnBrk="0" fontAlgn="base" hangingPunct="0">
        <a:spcBef>
          <a:spcPts val="500"/>
        </a:spcBef>
        <a:spcAft>
          <a:spcPct val="0"/>
        </a:spcAft>
        <a:defRPr sz="1400">
          <a:solidFill>
            <a:srgbClr val="2F425F"/>
          </a:solidFill>
          <a:latin typeface="Gill Sans MT" panose="020B0502020104020203" pitchFamily="34" charset="0"/>
          <a:ea typeface="+mn-ea"/>
          <a:cs typeface="+mn-cs"/>
          <a:sym typeface="Gill Sans"/>
        </a:defRPr>
      </a:lvl4pPr>
      <a:lvl5pPr marL="1273175" indent="-141288" algn="ctr" defTabSz="565150" rtl="0" eaLnBrk="0" fontAlgn="base" hangingPunct="0">
        <a:spcBef>
          <a:spcPts val="500"/>
        </a:spcBef>
        <a:spcAft>
          <a:spcPct val="0"/>
        </a:spcAft>
        <a:defRPr sz="1400">
          <a:solidFill>
            <a:srgbClr val="2F425F"/>
          </a:solidFill>
          <a:latin typeface="Gill Sans MT" panose="020B0502020104020203" pitchFamily="34" charset="0"/>
          <a:ea typeface="+mn-ea"/>
          <a:cs typeface="+mn-cs"/>
          <a:sym typeface="Gill Sans"/>
        </a:defRPr>
      </a:lvl5pPr>
      <a:lvl6pPr marL="457200" algn="ctr" rtl="0" fontAlgn="base">
        <a:spcBef>
          <a:spcPts val="800"/>
        </a:spcBef>
        <a:spcAft>
          <a:spcPct val="0"/>
        </a:spcAft>
        <a:defRPr sz="2200" b="1">
          <a:solidFill>
            <a:srgbClr val="436283"/>
          </a:solidFill>
          <a:latin typeface="+mn-lt"/>
          <a:ea typeface="+mn-ea"/>
          <a:cs typeface="+mn-cs"/>
          <a:sym typeface="Gill Sans" pitchFamily="-112" charset="0"/>
        </a:defRPr>
      </a:lvl6pPr>
      <a:lvl7pPr marL="914400" algn="ctr" rtl="0" fontAlgn="base">
        <a:spcBef>
          <a:spcPts val="800"/>
        </a:spcBef>
        <a:spcAft>
          <a:spcPct val="0"/>
        </a:spcAft>
        <a:defRPr sz="2200" b="1">
          <a:solidFill>
            <a:srgbClr val="436283"/>
          </a:solidFill>
          <a:latin typeface="+mn-lt"/>
          <a:ea typeface="+mn-ea"/>
          <a:cs typeface="+mn-cs"/>
          <a:sym typeface="Gill Sans" pitchFamily="-112" charset="0"/>
        </a:defRPr>
      </a:lvl7pPr>
      <a:lvl8pPr marL="1371600" algn="ctr" rtl="0" fontAlgn="base">
        <a:spcBef>
          <a:spcPts val="800"/>
        </a:spcBef>
        <a:spcAft>
          <a:spcPct val="0"/>
        </a:spcAft>
        <a:defRPr sz="2200" b="1">
          <a:solidFill>
            <a:srgbClr val="436283"/>
          </a:solidFill>
          <a:latin typeface="+mn-lt"/>
          <a:ea typeface="+mn-ea"/>
          <a:cs typeface="+mn-cs"/>
          <a:sym typeface="Gill Sans" pitchFamily="-112" charset="0"/>
        </a:defRPr>
      </a:lvl8pPr>
      <a:lvl9pPr marL="1828800" algn="ctr" rtl="0" fontAlgn="base">
        <a:spcBef>
          <a:spcPts val="800"/>
        </a:spcBef>
        <a:spcAft>
          <a:spcPct val="0"/>
        </a:spcAft>
        <a:defRPr sz="2200" b="1">
          <a:solidFill>
            <a:srgbClr val="436283"/>
          </a:solidFill>
          <a:latin typeface="+mn-lt"/>
          <a:ea typeface="+mn-ea"/>
          <a:cs typeface="+mn-cs"/>
          <a:sym typeface="Gill Sans" pitchFamily="-112" charset="0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 smtClean="0"/>
              <a:pPr/>
              <a:t>1</a:t>
            </a:fld>
            <a:endParaRPr lang="fr-FR" altLang="fr-FR" dirty="0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59" y="1419934"/>
            <a:ext cx="8547100" cy="1358111"/>
          </a:xfrm>
        </p:spPr>
        <p:txBody>
          <a:bodyPr/>
          <a:lstStyle/>
          <a:p>
            <a:r>
              <a:rPr lang="fr-FR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Modélisation de la Dégradation et Prédiction de la Durée de Vie de Canalisations en Polyéthylène Exposées aux Désinfectants Chlorés</a:t>
            </a:r>
            <a:endParaRPr lang="fr-FR" altLang="fr-FR" sz="3600" dirty="0">
              <a:effectLst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0839" y="3585637"/>
            <a:ext cx="3528392" cy="1007641"/>
          </a:xfrm>
        </p:spPr>
        <p:txBody>
          <a:bodyPr/>
          <a:lstStyle/>
          <a:p>
            <a:pPr algn="l"/>
            <a:r>
              <a:rPr lang="fr-FR" altLang="fr-FR" dirty="0"/>
              <a:t>Réalisé par 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altLang="fr-FR" sz="1800" dirty="0"/>
              <a:t>BENMALK Achraf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D88BEA7-8BA1-4DA6-AA58-67084EAA6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633" y="3585637"/>
            <a:ext cx="4153347" cy="1007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420" tIns="31420" rIns="31420" bIns="31420" numCol="1" anchor="t" anchorCtr="0" compatLnSpc="1">
            <a:prstTxWarp prst="textNoShape">
              <a:avLst/>
            </a:prstTxWarp>
          </a:bodyPr>
          <a:lstStyle>
            <a:lvl1pPr marL="212725" indent="-212725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20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1pPr>
            <a:lvl2pPr marL="458788" indent="-176213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2pPr>
            <a:lvl3pPr marL="706438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6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3pPr>
            <a:lvl4pPr marL="989013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4pPr>
            <a:lvl5pPr marL="1273175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5pPr>
            <a:lvl6pPr marL="4572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6pPr>
            <a:lvl7pPr marL="9144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7pPr>
            <a:lvl8pPr marL="13716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8pPr>
            <a:lvl9pPr marL="18288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9pPr>
          </a:lstStyle>
          <a:p>
            <a:pPr algn="l"/>
            <a:r>
              <a:rPr lang="fr-FR" dirty="0"/>
              <a:t>Encadré par 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1800" dirty="0"/>
              <a:t>Juan-Pablo MARQUEZ COSTA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fr-FR" sz="1800" dirty="0"/>
              <a:t>Xavier COLIN</a:t>
            </a:r>
            <a:endParaRPr lang="fr-FR" altLang="fr-FR" sz="1800" kern="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5142A5-5D33-46DE-8B47-518C7D1450DB}"/>
              </a:ext>
            </a:extLst>
          </p:cNvPr>
          <p:cNvSpPr/>
          <p:nvPr/>
        </p:nvSpPr>
        <p:spPr bwMode="auto">
          <a:xfrm>
            <a:off x="986254" y="226324"/>
            <a:ext cx="8712968" cy="845446"/>
          </a:xfrm>
          <a:prstGeom prst="roundRect">
            <a:avLst>
              <a:gd name="adj" fmla="val 12416"/>
            </a:avLst>
          </a:prstGeom>
          <a:solidFill>
            <a:srgbClr val="C7B08F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 dirty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112B5ED-CBE5-4B27-9417-E49681DA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986" y="200385"/>
            <a:ext cx="1364999" cy="88476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1081DF19-5C4F-47D4-8F28-5CCCEFE4B3D9}"/>
              </a:ext>
            </a:extLst>
          </p:cNvPr>
          <p:cNvSpPr txBox="1"/>
          <p:nvPr/>
        </p:nvSpPr>
        <p:spPr>
          <a:xfrm>
            <a:off x="2865868" y="5293828"/>
            <a:ext cx="4953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fr-FR" sz="1400" dirty="0">
                <a:latin typeface="Times New Roman" pitchFamily="18" charset="0"/>
                <a:cs typeface="Times New Roman" pitchFamily="18" charset="0"/>
              </a:rPr>
              <a:t>ARTS ET METIERS (ENSAM) 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altLang="fr-FR" sz="1400" dirty="0" err="1">
                <a:latin typeface="Times New Roman" pitchFamily="18" charset="0"/>
                <a:cs typeface="Times New Roman" pitchFamily="18" charset="0"/>
              </a:rPr>
              <a:t>Laboratoire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</a:rPr>
              <a:t> PIMM 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</a:rPr>
              <a:t> 75013 Paris 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</a:t>
            </a:r>
            <a:r>
              <a:rPr lang="en-GB" altLang="fr-FR" sz="1400" dirty="0">
                <a:latin typeface="Times New Roman" pitchFamily="18" charset="0"/>
                <a:cs typeface="Times New Roman" pitchFamily="18" charset="0"/>
              </a:rPr>
              <a:t> France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725FA9D-3774-4C5B-B6C0-D27B86D8A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880" y="208861"/>
            <a:ext cx="3533532" cy="88476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D4F0DDF-2898-277E-F51D-469085F59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307" y="329474"/>
            <a:ext cx="2504728" cy="626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ffectLst/>
              </a:rPr>
              <a:t>Plan </a:t>
            </a:r>
            <a:endParaRPr lang="fr-FR" b="0" dirty="0">
              <a:effectLst/>
            </a:endParaRP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6952" y="1340768"/>
            <a:ext cx="8064896" cy="4701487"/>
          </a:xfrm>
        </p:spPr>
        <p:txBody>
          <a:bodyPr/>
          <a:lstStyle/>
          <a:p>
            <a:pPr algn="l"/>
            <a:r>
              <a:rPr lang="fr-FR" altLang="fr-FR" b="1" dirty="0"/>
              <a:t>1. Contexte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Dégradation des Canalisations PE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Objectifs</a:t>
            </a:r>
          </a:p>
          <a:p>
            <a:pPr marL="282575" lvl="1" indent="0" algn="l"/>
            <a:endParaRPr lang="fr-FR" altLang="fr-FR" sz="600" b="1" dirty="0"/>
          </a:p>
          <a:p>
            <a:pPr algn="l"/>
            <a:r>
              <a:rPr lang="fr-FR" altLang="fr-FR" b="1" dirty="0"/>
              <a:t>2. Démarche : Modèle et Outils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Le modèle de référence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Implémentation numérique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Calcul des Grandeurs d'Intérêt</a:t>
            </a:r>
          </a:p>
          <a:p>
            <a:pPr marL="282575" lvl="1" indent="0" algn="l"/>
            <a:endParaRPr lang="fr-FR" altLang="fr-FR" sz="600" b="1" dirty="0"/>
          </a:p>
          <a:p>
            <a:pPr algn="l"/>
            <a:r>
              <a:rPr lang="fr-FR" altLang="fr-FR" b="1" dirty="0"/>
              <a:t>3. Résultats et Analyses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Résultats préliminaires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Validation numérique vs. Littérature (PE80/DOC)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Confrontation expérimentale vs. Données SUEZ (PE100/</a:t>
            </a:r>
            <a:r>
              <a:rPr lang="fr-FR" altLang="fr-FR" b="1" dirty="0" err="1"/>
              <a:t>HOCl</a:t>
            </a:r>
            <a:r>
              <a:rPr lang="fr-FR" altLang="fr-FR" b="1" dirty="0"/>
              <a:t>)</a:t>
            </a:r>
          </a:p>
          <a:p>
            <a:pPr marL="568325" lvl="1" indent="-285750" algn="l">
              <a:buFont typeface="Arial" panose="020B0604020202020204" pitchFamily="34" charset="0"/>
              <a:buChar char="•"/>
            </a:pPr>
            <a:r>
              <a:rPr lang="fr-FR" altLang="fr-FR" b="1" dirty="0"/>
              <a:t>Impact sur les propriétés mécaniques</a:t>
            </a:r>
          </a:p>
          <a:p>
            <a:pPr marL="282575" lvl="1" indent="0" algn="l"/>
            <a:endParaRPr lang="fr-FR" altLang="fr-FR" sz="600" b="1" dirty="0"/>
          </a:p>
          <a:p>
            <a:pPr algn="l"/>
            <a:r>
              <a:rPr lang="fr-FR" altLang="fr-FR" b="1" dirty="0"/>
              <a:t>4. Conclusions et Perspectives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29386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8806B-B186-4EB8-BEBB-2DC5B239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Contexte : Dégradation des Canalisations PE</a:t>
            </a: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154F0-66F4-49C3-A486-67836D7F5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3</a:t>
            </a:fld>
            <a:endParaRPr lang="fr-FR" alt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E51803-4DAD-4997-8181-546DF0D03BB4}"/>
              </a:ext>
            </a:extLst>
          </p:cNvPr>
          <p:cNvSpPr txBox="1"/>
          <p:nvPr/>
        </p:nvSpPr>
        <p:spPr>
          <a:xfrm>
            <a:off x="1189806" y="1033572"/>
            <a:ext cx="8355956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b="1" dirty="0"/>
              <a:t>Polyéthylène (PE100) :</a:t>
            </a:r>
            <a:r>
              <a:rPr lang="fr-FR" dirty="0"/>
              <a:t> Matériau de choix pour le transport d'eau potable pour Suez.</a:t>
            </a:r>
          </a:p>
          <a:p>
            <a:pPr lvl="1"/>
            <a:r>
              <a:rPr lang="fr-FR" i="1" dirty="0"/>
              <a:t>Avantages :</a:t>
            </a:r>
            <a:r>
              <a:rPr lang="fr-FR" dirty="0"/>
              <a:t> Durabilité (&gt; 50 ans), flexibilité, résistance à la corrosion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7D7677-502B-7F3B-8EF3-AE5C6C75E640}"/>
              </a:ext>
            </a:extLst>
          </p:cNvPr>
          <p:cNvCxnSpPr>
            <a:cxnSpLocks/>
          </p:cNvCxnSpPr>
          <p:nvPr/>
        </p:nvCxnSpPr>
        <p:spPr bwMode="auto">
          <a:xfrm flipV="1">
            <a:off x="2896324" y="2372939"/>
            <a:ext cx="904548" cy="609898"/>
          </a:xfrm>
          <a:prstGeom prst="lin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ZoneTexte 7">
            <a:extLst>
              <a:ext uri="{FF2B5EF4-FFF2-40B4-BE49-F238E27FC236}">
                <a16:creationId xmlns:a16="http://schemas.microsoft.com/office/drawing/2014/main" id="{30CC16A9-2EE2-D1E4-3962-47354A4E8758}"/>
              </a:ext>
            </a:extLst>
          </p:cNvPr>
          <p:cNvSpPr txBox="1"/>
          <p:nvPr/>
        </p:nvSpPr>
        <p:spPr>
          <a:xfrm>
            <a:off x="1075956" y="4941168"/>
            <a:ext cx="8583656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fr-FR" dirty="0"/>
              <a:t>Désinfectants chlorés → </a:t>
            </a:r>
            <a:r>
              <a:rPr lang="fr-FR" dirty="0">
                <a:solidFill>
                  <a:srgbClr val="FF0000"/>
                </a:solidFill>
              </a:rPr>
              <a:t>dégradation chimique </a:t>
            </a:r>
            <a:r>
              <a:rPr lang="fr-FR" dirty="0"/>
              <a:t>→ fissures fragiles en paroi interne → ruptures prématurées</a:t>
            </a:r>
          </a:p>
          <a:p>
            <a:pPr lvl="1">
              <a:spcAft>
                <a:spcPts val="400"/>
              </a:spcAft>
            </a:pPr>
            <a:r>
              <a:rPr lang="fr-FR" dirty="0"/>
              <a:t>→ réduction critique de la durée de vie</a:t>
            </a:r>
            <a:endParaRPr lang="fr-FR" dirty="0">
              <a:solidFill>
                <a:srgbClr val="2F425F"/>
              </a:solidFill>
            </a:endParaRPr>
          </a:p>
        </p:txBody>
      </p:sp>
      <p:sp>
        <p:nvSpPr>
          <p:cNvPr id="33" name="Arrow: Circular 32">
            <a:extLst>
              <a:ext uri="{FF2B5EF4-FFF2-40B4-BE49-F238E27FC236}">
                <a16:creationId xmlns:a16="http://schemas.microsoft.com/office/drawing/2014/main" id="{F99354D6-064A-8EE3-47E4-198ABBA4FC07}"/>
              </a:ext>
            </a:extLst>
          </p:cNvPr>
          <p:cNvSpPr/>
          <p:nvPr/>
        </p:nvSpPr>
        <p:spPr bwMode="auto">
          <a:xfrm>
            <a:off x="4880993" y="4725144"/>
            <a:ext cx="648072" cy="529143"/>
          </a:xfrm>
          <a:prstGeom prst="circularArrow">
            <a:avLst>
              <a:gd name="adj1" fmla="val 4940"/>
              <a:gd name="adj2" fmla="val 1142319"/>
              <a:gd name="adj3" fmla="val 20911146"/>
              <a:gd name="adj4" fmla="val 10776083"/>
              <a:gd name="adj5" fmla="val 12632"/>
            </a:avLst>
          </a:prstGeom>
          <a:solidFill>
            <a:srgbClr val="0070C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34" name="ZoneTexte 7">
            <a:extLst>
              <a:ext uri="{FF2B5EF4-FFF2-40B4-BE49-F238E27FC236}">
                <a16:creationId xmlns:a16="http://schemas.microsoft.com/office/drawing/2014/main" id="{55B092A5-46A0-5FD9-04D2-C76A96B91448}"/>
              </a:ext>
            </a:extLst>
          </p:cNvPr>
          <p:cNvSpPr txBox="1"/>
          <p:nvPr/>
        </p:nvSpPr>
        <p:spPr>
          <a:xfrm>
            <a:off x="3224808" y="4452636"/>
            <a:ext cx="36648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l">
              <a:spcAft>
                <a:spcPts val="400"/>
              </a:spcAft>
            </a:pPr>
            <a:r>
              <a:rPr lang="en-GB" dirty="0">
                <a:solidFill>
                  <a:srgbClr val="0070C0"/>
                </a:solidFill>
              </a:rPr>
              <a:t>Réduction des </a:t>
            </a:r>
            <a:r>
              <a:rPr lang="fr-FR" dirty="0">
                <a:solidFill>
                  <a:srgbClr val="0070C0"/>
                </a:solidFill>
              </a:rPr>
              <a:t>propriétés mécaniques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BEFB6F-A7E4-1558-1CE6-816BF3D2A065}"/>
              </a:ext>
            </a:extLst>
          </p:cNvPr>
          <p:cNvGrpSpPr/>
          <p:nvPr/>
        </p:nvGrpSpPr>
        <p:grpSpPr>
          <a:xfrm>
            <a:off x="1075956" y="5661248"/>
            <a:ext cx="8191230" cy="776401"/>
            <a:chOff x="2136927" y="5278944"/>
            <a:chExt cx="4443461" cy="776401"/>
          </a:xfrm>
        </p:grpSpPr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00BBB90-1194-443A-9ED8-95A5945CC2A9}"/>
                </a:ext>
              </a:extLst>
            </p:cNvPr>
            <p:cNvSpPr txBox="1"/>
            <p:nvPr/>
          </p:nvSpPr>
          <p:spPr>
            <a:xfrm>
              <a:off x="2340708" y="5278944"/>
              <a:ext cx="42396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>
                  <a:sym typeface="Wingdings" panose="05000000000000000000" pitchFamily="2" charset="2"/>
                </a:rPr>
                <a:t>Besoin : </a:t>
              </a:r>
              <a:r>
                <a:rPr lang="fr-FR" dirty="0">
                  <a:sym typeface="Wingdings" panose="05000000000000000000" pitchFamily="2" charset="2"/>
                </a:rPr>
                <a:t>Prévoir cette </a:t>
              </a:r>
              <a:r>
                <a:rPr lang="fr-FR" dirty="0">
                  <a:solidFill>
                    <a:srgbClr val="2F425F"/>
                  </a:solidFill>
                  <a:sym typeface="Wingdings" panose="05000000000000000000" pitchFamily="2" charset="2"/>
                </a:rPr>
                <a:t>dégradation </a:t>
              </a:r>
              <a:endParaRPr lang="fr-FR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8414FF2-1617-9C4E-8CB6-DF05A3A0D79F}"/>
                </a:ext>
              </a:extLst>
            </p:cNvPr>
            <p:cNvSpPr txBox="1"/>
            <p:nvPr/>
          </p:nvSpPr>
          <p:spPr>
            <a:xfrm>
              <a:off x="2136927" y="5747568"/>
              <a:ext cx="351337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dirty="0"/>
                <a:t>Comment? </a:t>
              </a:r>
              <a:r>
                <a:rPr lang="fr-FR" dirty="0"/>
                <a:t>→ Par la modélisation, validée par la caractérisation</a:t>
              </a:r>
            </a:p>
          </p:txBody>
        </p:sp>
      </p:grpSp>
      <p:grpSp>
        <p:nvGrpSpPr>
          <p:cNvPr id="2052" name="Group 2051">
            <a:extLst>
              <a:ext uri="{FF2B5EF4-FFF2-40B4-BE49-F238E27FC236}">
                <a16:creationId xmlns:a16="http://schemas.microsoft.com/office/drawing/2014/main" id="{C10118BE-57CD-00BA-5FBD-756897A413D2}"/>
              </a:ext>
            </a:extLst>
          </p:cNvPr>
          <p:cNvGrpSpPr/>
          <p:nvPr/>
        </p:nvGrpSpPr>
        <p:grpSpPr>
          <a:xfrm>
            <a:off x="731960" y="1700808"/>
            <a:ext cx="9369040" cy="2567792"/>
            <a:chOff x="731960" y="1660523"/>
            <a:chExt cx="9369040" cy="2567792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2AF873E-4CD5-891F-B52F-2E8DED133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229" r="2858" b="13956"/>
            <a:stretch>
              <a:fillRect/>
            </a:stretch>
          </p:blipFill>
          <p:spPr>
            <a:xfrm>
              <a:off x="6504374" y="1820178"/>
              <a:ext cx="3061728" cy="1487944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AA0918-E874-90D6-006D-E3237C8402D0}"/>
                </a:ext>
              </a:extLst>
            </p:cNvPr>
            <p:cNvSpPr txBox="1"/>
            <p:nvPr/>
          </p:nvSpPr>
          <p:spPr>
            <a:xfrm>
              <a:off x="6501744" y="3581984"/>
              <a:ext cx="30153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200" dirty="0"/>
                <a:t>Courbes contrainte-durée de vie :</a:t>
              </a:r>
            </a:p>
            <a:p>
              <a:r>
                <a:rPr lang="fr-FR" sz="1200" dirty="0"/>
                <a:t>(I) Ductile, (II) Fragile différée (mécanique), et </a:t>
              </a:r>
              <a:r>
                <a:rPr lang="fr-FR" sz="1200" dirty="0">
                  <a:solidFill>
                    <a:srgbClr val="FF0000"/>
                  </a:solidFill>
                </a:rPr>
                <a:t>(III) Fragile accélérée (chimique) </a:t>
              </a:r>
            </a:p>
          </p:txBody>
        </p:sp>
        <p:sp>
          <p:nvSpPr>
            <p:cNvPr id="60" name="Arrow: Down 59">
              <a:extLst>
                <a:ext uri="{FF2B5EF4-FFF2-40B4-BE49-F238E27FC236}">
                  <a16:creationId xmlns:a16="http://schemas.microsoft.com/office/drawing/2014/main" id="{0B195783-02D8-09AE-5CA3-53D5786DCF65}"/>
                </a:ext>
              </a:extLst>
            </p:cNvPr>
            <p:cNvSpPr/>
            <p:nvPr/>
          </p:nvSpPr>
          <p:spPr bwMode="auto">
            <a:xfrm rot="16200000">
              <a:off x="5998366" y="2489214"/>
              <a:ext cx="319103" cy="326469"/>
            </a:xfrm>
            <a:prstGeom prst="downArrow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2200" b="0" i="0" u="none" strike="noStrike" cap="none" normalizeH="0" baseline="0" dirty="0">
                <a:ln>
                  <a:noFill/>
                </a:ln>
                <a:solidFill>
                  <a:srgbClr val="384F70"/>
                </a:solidFill>
                <a:effectLst/>
                <a:latin typeface="Gill Sans" pitchFamily="-112" charset="0"/>
                <a:ea typeface="ヒラギノ角ゴ ProN W3" pitchFamily="-112" charset="-128"/>
                <a:cs typeface="ヒラギノ角ゴ ProN W3" pitchFamily="-112" charset="-128"/>
                <a:sym typeface="Gill Sans" pitchFamily="-112" charset="0"/>
              </a:endParaRPr>
            </a:p>
          </p:txBody>
        </p:sp>
        <p:pic>
          <p:nvPicPr>
            <p:cNvPr id="61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E3AAABF5-FC9E-BCC0-F53B-4D20C2DF93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65368" y="3304737"/>
              <a:ext cx="182777" cy="1962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4F66915-1E88-964D-D518-A02E36F69857}"/>
                </a:ext>
              </a:extLst>
            </p:cNvPr>
            <p:cNvSpPr/>
            <p:nvPr/>
          </p:nvSpPr>
          <p:spPr>
            <a:xfrm>
              <a:off x="7821951" y="3284984"/>
              <a:ext cx="227904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</a:rPr>
                <a:t>Colin et al., 2009</a:t>
              </a:r>
            </a:p>
          </p:txBody>
        </p:sp>
        <p:grpSp>
          <p:nvGrpSpPr>
            <p:cNvPr id="2051" name="Group 2050">
              <a:extLst>
                <a:ext uri="{FF2B5EF4-FFF2-40B4-BE49-F238E27FC236}">
                  <a16:creationId xmlns:a16="http://schemas.microsoft.com/office/drawing/2014/main" id="{51F2C5EE-8E28-9FC7-4733-078F1E3606E6}"/>
                </a:ext>
              </a:extLst>
            </p:cNvPr>
            <p:cNvGrpSpPr/>
            <p:nvPr/>
          </p:nvGrpSpPr>
          <p:grpSpPr>
            <a:xfrm>
              <a:off x="731960" y="1660523"/>
              <a:ext cx="4941120" cy="2394268"/>
              <a:chOff x="731960" y="1660523"/>
              <a:chExt cx="4941120" cy="2394268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3B267A-3C5C-4D1C-92A8-BDDAA4FA3D7A}"/>
                  </a:ext>
                </a:extLst>
              </p:cNvPr>
              <p:cNvSpPr/>
              <p:nvPr/>
            </p:nvSpPr>
            <p:spPr>
              <a:xfrm>
                <a:off x="1367699" y="3579510"/>
                <a:ext cx="3866331" cy="4752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MEB montrant la propagation de fissures dans un tuyau PE après </a:t>
                </a:r>
                <a:r>
                  <a:rPr lang="fr-FR" sz="1200" dirty="0">
                    <a:solidFill>
                      <a:srgbClr val="FF0000"/>
                    </a:solidFill>
                  </a:rPr>
                  <a:t>121 h</a:t>
                </a:r>
                <a:r>
                  <a:rPr lang="fr-FR" sz="1200" dirty="0"/>
                  <a:t> d’exposition à de l’eau avec </a:t>
                </a:r>
                <a:r>
                  <a:rPr lang="fr-FR" sz="1200" dirty="0">
                    <a:solidFill>
                      <a:srgbClr val="FF0000"/>
                    </a:solidFill>
                  </a:rPr>
                  <a:t>4 ppm </a:t>
                </a:r>
                <a:r>
                  <a:rPr lang="fr-FR" sz="1200" dirty="0"/>
                  <a:t>DOC</a:t>
                </a:r>
                <a:endParaRPr lang="fr-FR" sz="12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EA913042-38DA-FDD4-89D4-CED958956C6B}"/>
                  </a:ext>
                </a:extLst>
              </p:cNvPr>
              <p:cNvGrpSpPr/>
              <p:nvPr/>
            </p:nvGrpSpPr>
            <p:grpSpPr>
              <a:xfrm>
                <a:off x="1234291" y="1660523"/>
                <a:ext cx="4438789" cy="1804343"/>
                <a:chOff x="2088539" y="1955983"/>
                <a:chExt cx="5568402" cy="2263524"/>
              </a:xfrm>
            </p:grpSpPr>
            <p:pic>
              <p:nvPicPr>
                <p:cNvPr id="2050" name="Picture 2" descr="Tubes PE100 et 100 RC pour réseaux d'eau potable | DYKA">
                  <a:extLst>
                    <a:ext uri="{FF2B5EF4-FFF2-40B4-BE49-F238E27FC236}">
                      <a16:creationId xmlns:a16="http://schemas.microsoft.com/office/drawing/2014/main" id="{15F6E9AA-4A5E-DDDD-2915-3E849992649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88539" y="1955983"/>
                  <a:ext cx="1956728" cy="19059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213CF038-6843-570E-463F-D3D61B495F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80992" y="2132856"/>
                  <a:ext cx="2775949" cy="2086651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F4FA671-6247-6631-BA57-A3001A3E172B}"/>
                    </a:ext>
                  </a:extLst>
                </p:cNvPr>
                <p:cNvSpPr/>
                <p:nvPr/>
              </p:nvSpPr>
              <p:spPr bwMode="auto">
                <a:xfrm>
                  <a:off x="4668303" y="2132856"/>
                  <a:ext cx="2986586" cy="2086651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prstDash val="sysDash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sz="2200" b="0" i="0" u="none" strike="noStrike" cap="none" normalizeH="0" baseline="0">
                    <a:ln>
                      <a:noFill/>
                    </a:ln>
                    <a:solidFill>
                      <a:srgbClr val="384F70"/>
                    </a:solidFill>
                    <a:effectLst/>
                    <a:latin typeface="Gill Sans" pitchFamily="-112" charset="0"/>
                    <a:ea typeface="ヒラギノ角ゴ ProN W3" pitchFamily="-112" charset="-128"/>
                    <a:cs typeface="ヒラギノ角ゴ ProN W3" pitchFamily="-112" charset="-128"/>
                    <a:sym typeface="Gill Sans" pitchFamily="-112" charset="0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E33ABC45-3D2C-465E-6DD0-6937D3FA383B}"/>
                    </a:ext>
                  </a:extLst>
                </p:cNvPr>
                <p:cNvSpPr/>
                <p:nvPr/>
              </p:nvSpPr>
              <p:spPr bwMode="auto">
                <a:xfrm>
                  <a:off x="2988353" y="3104688"/>
                  <a:ext cx="167095" cy="13355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prstDash val="sysDash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sz="2200" b="0" i="0" u="none" strike="noStrike" cap="none" normalizeH="0" baseline="0">
                    <a:ln>
                      <a:noFill/>
                    </a:ln>
                    <a:solidFill>
                      <a:srgbClr val="384F70"/>
                    </a:solidFill>
                    <a:effectLst/>
                    <a:latin typeface="Gill Sans" pitchFamily="-112" charset="0"/>
                    <a:ea typeface="ヒラギノ角ゴ ProN W3" pitchFamily="-112" charset="-128"/>
                    <a:cs typeface="ヒラギノ角ゴ ProN W3" pitchFamily="-112" charset="-128"/>
                    <a:sym typeface="Gill Sans" pitchFamily="-112" charset="0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20D86DC0-5558-11D4-21DA-7652AB056314}"/>
                    </a:ext>
                  </a:extLst>
                </p:cNvPr>
                <p:cNvCxnSpPr>
                  <a:cxnSpLocks/>
                  <a:stCxn id="12" idx="0"/>
                </p:cNvCxnSpPr>
                <p:nvPr/>
              </p:nvCxnSpPr>
              <p:spPr bwMode="auto">
                <a:xfrm flipV="1">
                  <a:off x="3071901" y="2132856"/>
                  <a:ext cx="1594350" cy="971832"/>
                </a:xfrm>
                <a:prstGeom prst="line">
                  <a:avLst/>
                </a:prstGeom>
                <a:blipFill dpi="0" rotWithShape="0">
                  <a:blip r:embed="rId3"/>
                  <a:srcRect/>
                  <a:tile tx="0" ty="0" sx="100000" sy="100000" flip="none" algn="tl"/>
                </a:blipFill>
                <a:ln w="2540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176C03F-544C-57FA-4D9C-3AB9DBC901F7}"/>
                    </a:ext>
                  </a:extLst>
                </p:cNvPr>
                <p:cNvCxnSpPr>
                  <a:cxnSpLocks/>
                  <a:stCxn id="12" idx="2"/>
                </p:cNvCxnSpPr>
                <p:nvPr/>
              </p:nvCxnSpPr>
              <p:spPr bwMode="auto">
                <a:xfrm>
                  <a:off x="3071901" y="3238242"/>
                  <a:ext cx="1594350" cy="981265"/>
                </a:xfrm>
                <a:prstGeom prst="line">
                  <a:avLst/>
                </a:prstGeom>
                <a:blipFill dpi="0" rotWithShape="0">
                  <a:blip r:embed="rId3"/>
                  <a:srcRect/>
                  <a:tile tx="0" ty="0" sx="100000" sy="100000" flip="none" algn="tl"/>
                </a:blipFill>
                <a:ln w="2540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pic>
            <p:nvPicPr>
              <p:cNvPr id="6" name="Picture 2" descr="U:\These_MarquezJP\Activites_Onera\Journees Doctorants Janvier 2018\bibliosimbol.png">
                <a:extLst>
                  <a:ext uri="{FF2B5EF4-FFF2-40B4-BE49-F238E27FC236}">
                    <a16:creationId xmlns:a16="http://schemas.microsoft.com/office/drawing/2014/main" id="{F887E677-22D4-160D-DD4E-A5235BB87B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7728" y="3304737"/>
                <a:ext cx="182777" cy="1962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BF16FE-1A52-E6F2-BDA9-BF3F597B8BF5}"/>
                  </a:ext>
                </a:extLst>
              </p:cNvPr>
              <p:cNvSpPr/>
              <p:nvPr/>
            </p:nvSpPr>
            <p:spPr>
              <a:xfrm>
                <a:off x="731960" y="3284984"/>
                <a:ext cx="2279049" cy="1962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ts val="1200"/>
                  </a:spcBef>
                  <a:spcAft>
                    <a:spcPts val="0"/>
                  </a:spcAft>
                  <a:buSzPct val="130000"/>
                </a:pPr>
                <a:r>
                  <a:rPr lang="da-DK" sz="1000" dirty="0">
                    <a:solidFill>
                      <a:prstClr val="black"/>
                    </a:solidFill>
                    <a:latin typeface="Arial" pitchFamily="34" charset="0"/>
                    <a:ea typeface="ＭＳ Ｐゴシック" pitchFamily="34" charset="-128"/>
                    <a:cs typeface="+mn-cs"/>
                  </a:rPr>
                  <a:t>Yu et al., 2011</a:t>
                </a:r>
              </a:p>
            </p:txBody>
          </p:sp>
          <p:pic>
            <p:nvPicPr>
              <p:cNvPr id="12290" name="Picture 2" descr="Chlore - Icônes la nature gratuites">
                <a:extLst>
                  <a:ext uri="{FF2B5EF4-FFF2-40B4-BE49-F238E27FC236}">
                    <a16:creationId xmlns:a16="http://schemas.microsoft.com/office/drawing/2014/main" id="{AB27EA6D-7820-209D-C62E-0C0D9ACAE7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4183" y="1741675"/>
                <a:ext cx="446516" cy="4465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49" name="Rectangle 2048">
                <a:extLst>
                  <a:ext uri="{FF2B5EF4-FFF2-40B4-BE49-F238E27FC236}">
                    <a16:creationId xmlns:a16="http://schemas.microsoft.com/office/drawing/2014/main" id="{3F7911B1-B5C4-04B7-6A36-2339A55A4A1E}"/>
                  </a:ext>
                </a:extLst>
              </p:cNvPr>
              <p:cNvSpPr/>
              <p:nvPr/>
            </p:nvSpPr>
            <p:spPr>
              <a:xfrm>
                <a:off x="1755232" y="1732531"/>
                <a:ext cx="3926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2400" dirty="0"/>
                  <a:t>+</a:t>
                </a:r>
                <a:endParaRPr lang="fr-FR" sz="24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56" name="TextBox 2055">
            <a:extLst>
              <a:ext uri="{FF2B5EF4-FFF2-40B4-BE49-F238E27FC236}">
                <a16:creationId xmlns:a16="http://schemas.microsoft.com/office/drawing/2014/main" id="{6972E4F7-CD66-73AA-0574-E20E7399BE02}"/>
              </a:ext>
            </a:extLst>
          </p:cNvPr>
          <p:cNvSpPr txBox="1"/>
          <p:nvPr/>
        </p:nvSpPr>
        <p:spPr>
          <a:xfrm>
            <a:off x="6896967" y="6021288"/>
            <a:ext cx="2520529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lang="fr-FR" dirty="0"/>
              <a:t>physico-chimique (OIT et FT-IR)</a:t>
            </a:r>
          </a:p>
          <a:p>
            <a:pPr algn="l"/>
            <a:r>
              <a:rPr lang="fr-FR" dirty="0"/>
              <a:t>mécanique (Traction)</a:t>
            </a:r>
          </a:p>
        </p:txBody>
      </p:sp>
      <p:sp>
        <p:nvSpPr>
          <p:cNvPr id="2057" name="Left Brace 2056">
            <a:extLst>
              <a:ext uri="{FF2B5EF4-FFF2-40B4-BE49-F238E27FC236}">
                <a16:creationId xmlns:a16="http://schemas.microsoft.com/office/drawing/2014/main" id="{05EB745F-9FCE-FAD4-027E-18775EC34C47}"/>
              </a:ext>
            </a:extLst>
          </p:cNvPr>
          <p:cNvSpPr/>
          <p:nvPr/>
        </p:nvSpPr>
        <p:spPr bwMode="auto">
          <a:xfrm>
            <a:off x="6781763" y="6165304"/>
            <a:ext cx="106309" cy="287338"/>
          </a:xfrm>
          <a:prstGeom prst="leftBrace">
            <a:avLst>
              <a:gd name="adj1" fmla="val 0"/>
              <a:gd name="adj2" fmla="val 48598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231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I. Contexte : Objectifs</a:t>
            </a:r>
            <a:endParaRPr lang="fr-FR" altLang="fr-FR" dirty="0">
              <a:effectLst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745B1BD-D9ED-4F3C-BFC0-E07544730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2009" y="984023"/>
            <a:ext cx="8547100" cy="76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420" tIns="31420" rIns="31420" bIns="31420" numCol="1" anchor="t" anchorCtr="0" compatLnSpc="1">
            <a:prstTxWarp prst="textNoShape">
              <a:avLst/>
            </a:prstTxWarp>
          </a:bodyPr>
          <a:lstStyle>
            <a:lvl1pPr marL="212725" indent="-212725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20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1pPr>
            <a:lvl2pPr marL="458788" indent="-176213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2pPr>
            <a:lvl3pPr marL="706438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6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3pPr>
            <a:lvl4pPr marL="989013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4pPr>
            <a:lvl5pPr marL="1273175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5pPr>
            <a:lvl6pPr marL="4572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6pPr>
            <a:lvl7pPr marL="9144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7pPr>
            <a:lvl8pPr marL="13716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8pPr>
            <a:lvl9pPr marL="18288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9pPr>
          </a:lstStyle>
          <a:p>
            <a:pPr marL="0" indent="0"/>
            <a:r>
              <a:rPr lang="fr-FR" sz="1800" dirty="0"/>
              <a:t>Pour prédire la dégradation du système industriel SUEZ </a:t>
            </a:r>
            <a:r>
              <a:rPr lang="fr-FR" sz="1800" b="1" dirty="0"/>
              <a:t>(PE100/</a:t>
            </a:r>
            <a:r>
              <a:rPr lang="fr-FR" sz="1800" b="1" dirty="0" err="1"/>
              <a:t>HOCl</a:t>
            </a:r>
            <a:r>
              <a:rPr lang="fr-FR" sz="1800" b="1" dirty="0"/>
              <a:t>)</a:t>
            </a:r>
          </a:p>
          <a:p>
            <a:pPr marL="0" indent="0"/>
            <a:r>
              <a:rPr lang="fr-FR" sz="1800" b="1" dirty="0"/>
              <a:t> </a:t>
            </a:r>
            <a:r>
              <a:rPr lang="fr-FR" sz="1800" dirty="0"/>
              <a:t>→ s’appuyer sur un modèle cinétique de référence </a:t>
            </a:r>
            <a:r>
              <a:rPr lang="fr-FR" sz="1800" b="1" dirty="0"/>
              <a:t>(PE80/DOC) </a:t>
            </a:r>
          </a:p>
        </p:txBody>
      </p:sp>
      <p:pic>
        <p:nvPicPr>
          <p:cNvPr id="6" name="Picture 5" descr="A diagram of a model&#10;&#10;AI-generated content may be incorrect.">
            <a:extLst>
              <a:ext uri="{FF2B5EF4-FFF2-40B4-BE49-F238E27FC236}">
                <a16:creationId xmlns:a16="http://schemas.microsoft.com/office/drawing/2014/main" id="{3844C1B9-2916-655D-A032-64A4005B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31"/>
          <a:stretch>
            <a:fillRect/>
          </a:stretch>
        </p:blipFill>
        <p:spPr>
          <a:xfrm>
            <a:off x="2360712" y="1857738"/>
            <a:ext cx="6101250" cy="48155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30CB2-DB95-A950-AC01-FF695A9D2742}"/>
              </a:ext>
            </a:extLst>
          </p:cNvPr>
          <p:cNvSpPr txBox="1"/>
          <p:nvPr/>
        </p:nvSpPr>
        <p:spPr>
          <a:xfrm>
            <a:off x="1444038" y="3942369"/>
            <a:ext cx="1994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2F425F"/>
                </a:solidFill>
                <a:ea typeface="+mn-ea"/>
                <a:cs typeface="+mn-cs"/>
              </a:rPr>
              <a:t>Notre stratégie en 4 objectifs :</a:t>
            </a:r>
          </a:p>
        </p:txBody>
      </p:sp>
    </p:spTree>
    <p:extLst>
      <p:ext uri="{BB962C8B-B14F-4D97-AF65-F5344CB8AC3E}">
        <p14:creationId xmlns:p14="http://schemas.microsoft.com/office/powerpoint/2010/main" val="204626870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6F0D-20BD-5EE4-5F67-0DB0E639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B852761-8B83-1034-55FD-4BA1538BEF5B}"/>
              </a:ext>
            </a:extLst>
          </p:cNvPr>
          <p:cNvGrpSpPr/>
          <p:nvPr/>
        </p:nvGrpSpPr>
        <p:grpSpPr>
          <a:xfrm>
            <a:off x="1078397" y="1368344"/>
            <a:ext cx="8555123" cy="5299520"/>
            <a:chOff x="857919" y="1368344"/>
            <a:chExt cx="8555123" cy="52995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EC32CF4-9F9B-D650-DD20-8C531C938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042" b="1167"/>
            <a:stretch>
              <a:fillRect/>
            </a:stretch>
          </p:blipFill>
          <p:spPr>
            <a:xfrm>
              <a:off x="2535469" y="1368344"/>
              <a:ext cx="5540163" cy="5299520"/>
            </a:xfrm>
            <a:prstGeom prst="rect">
              <a:avLst/>
            </a:prstGeom>
          </p:spPr>
        </p:pic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EE77E7A9-8055-A86B-BCC4-D839B0C52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6831" y="2565010"/>
              <a:ext cx="2376211" cy="359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4D9C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1420" tIns="31420" rIns="31420" bIns="31420" numCol="1" anchor="t" anchorCtr="0" compatLnSpc="1">
              <a:prstTxWarp prst="textNoShape">
                <a:avLst/>
              </a:prstTxWarp>
            </a:bodyPr>
            <a:lstStyle>
              <a:lvl1pPr marL="212725" indent="-212725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20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1pPr>
              <a:lvl2pPr marL="458788" indent="-176213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2pPr>
              <a:lvl3pPr marL="706438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6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3pPr>
              <a:lvl4pPr marL="989013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4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4pPr>
              <a:lvl5pPr marL="1273175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4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5pPr>
              <a:lvl6pPr marL="4572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6pPr>
              <a:lvl7pPr marL="9144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7pPr>
              <a:lvl8pPr marL="13716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8pPr>
              <a:lvl9pPr marL="18288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9pPr>
            </a:lstStyle>
            <a:p>
              <a:r>
                <a:rPr lang="fr-FR" sz="1800" dirty="0">
                  <a:solidFill>
                    <a:srgbClr val="FF0000"/>
                  </a:solidFill>
                </a:rPr>
                <a:t>1. Dégradation chimique</a:t>
              </a:r>
              <a:endParaRPr lang="fr-FR" sz="1600" dirty="0">
                <a:solidFill>
                  <a:srgbClr val="FF0000"/>
                </a:solidFill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3F85903F-4582-A038-4425-B333C07BC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919" y="5043136"/>
              <a:ext cx="1494518" cy="648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4D9C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1420" tIns="31420" rIns="31420" bIns="31420" numCol="1" anchor="t" anchorCtr="0" compatLnSpc="1">
              <a:prstTxWarp prst="textNoShape">
                <a:avLst/>
              </a:prstTxWarp>
            </a:bodyPr>
            <a:lstStyle>
              <a:lvl1pPr marL="212725" indent="-212725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20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1pPr>
              <a:lvl2pPr marL="458788" indent="-176213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2pPr>
              <a:lvl3pPr marL="706438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6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3pPr>
              <a:lvl4pPr marL="989013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4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4pPr>
              <a:lvl5pPr marL="1273175" indent="-141288" algn="ctr" defTabSz="565150" rtl="0" eaLnBrk="0" fontAlgn="base" hangingPunct="0">
                <a:spcBef>
                  <a:spcPts val="500"/>
                </a:spcBef>
                <a:spcAft>
                  <a:spcPct val="0"/>
                </a:spcAft>
                <a:defRPr sz="1400">
                  <a:solidFill>
                    <a:srgbClr val="2F425F"/>
                  </a:solidFill>
                  <a:latin typeface="Gill Sans MT" panose="020B0502020104020203" pitchFamily="34" charset="0"/>
                  <a:ea typeface="+mn-ea"/>
                  <a:cs typeface="+mn-cs"/>
                  <a:sym typeface="Gill Sans"/>
                </a:defRPr>
              </a:lvl5pPr>
              <a:lvl6pPr marL="4572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6pPr>
              <a:lvl7pPr marL="9144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7pPr>
              <a:lvl8pPr marL="13716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8pPr>
              <a:lvl9pPr marL="1828800" algn="ctr" rtl="0" fontAlgn="base">
                <a:spcBef>
                  <a:spcPts val="800"/>
                </a:spcBef>
                <a:spcAft>
                  <a:spcPct val="0"/>
                </a:spcAft>
                <a:defRPr sz="2200" b="1">
                  <a:solidFill>
                    <a:srgbClr val="436283"/>
                  </a:solidFill>
                  <a:latin typeface="+mn-lt"/>
                  <a:ea typeface="+mn-ea"/>
                  <a:cs typeface="+mn-cs"/>
                  <a:sym typeface="Gill Sans" pitchFamily="-112" charset="0"/>
                </a:defRPr>
              </a:lvl9pPr>
            </a:lstStyle>
            <a:p>
              <a:pPr algn="r"/>
              <a:r>
                <a:rPr lang="fr-FR" sz="1600" dirty="0">
                  <a:solidFill>
                    <a:srgbClr val="FF0000"/>
                  </a:solidFill>
                </a:rPr>
                <a:t>2. Chute de Masse Molaire</a:t>
              </a:r>
              <a:endParaRPr lang="fr-FR" sz="14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" name="Rectangle 18">
            <a:extLst>
              <a:ext uri="{FF2B5EF4-FFF2-40B4-BE49-F238E27FC236}">
                <a16:creationId xmlns:a16="http://schemas.microsoft.com/office/drawing/2014/main" id="{D53918B3-D8CF-A2B8-31BA-2044E177AC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758493FB-8A2D-3F5B-EB93-2779D80D5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II. Démarche : Le Modèle de Référence</a:t>
            </a:r>
            <a:endParaRPr lang="fr-FR" altLang="fr-FR" dirty="0">
              <a:effectLst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FE7F09-20C8-9EBC-980C-0963FE8F9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688" y="879475"/>
            <a:ext cx="7753424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1420" tIns="31420" rIns="31420" bIns="31420" numCol="1" anchor="t" anchorCtr="0" compatLnSpc="1">
            <a:prstTxWarp prst="textNoShape">
              <a:avLst/>
            </a:prstTxWarp>
          </a:bodyPr>
          <a:lstStyle>
            <a:lvl1pPr marL="212725" indent="-212725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20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1pPr>
            <a:lvl2pPr marL="458788" indent="-176213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2pPr>
            <a:lvl3pPr marL="706438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6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3pPr>
            <a:lvl4pPr marL="989013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4pPr>
            <a:lvl5pPr marL="1273175" indent="-141288" algn="ctr" defTabSz="565150" rtl="0" eaLnBrk="0" fontAlgn="base" hangingPunct="0">
              <a:spcBef>
                <a:spcPts val="500"/>
              </a:spcBef>
              <a:spcAft>
                <a:spcPct val="0"/>
              </a:spcAft>
              <a:defRPr sz="1400">
                <a:solidFill>
                  <a:srgbClr val="2F425F"/>
                </a:solidFill>
                <a:latin typeface="Gill Sans MT" panose="020B0502020104020203" pitchFamily="34" charset="0"/>
                <a:ea typeface="+mn-ea"/>
                <a:cs typeface="+mn-cs"/>
                <a:sym typeface="Gill Sans"/>
              </a:defRPr>
            </a:lvl5pPr>
            <a:lvl6pPr marL="4572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6pPr>
            <a:lvl7pPr marL="9144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7pPr>
            <a:lvl8pPr marL="13716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8pPr>
            <a:lvl9pPr marL="1828800" algn="ctr" rtl="0" fontAlgn="base">
              <a:spcBef>
                <a:spcPts val="800"/>
              </a:spcBef>
              <a:spcAft>
                <a:spcPct val="0"/>
              </a:spcAft>
              <a:defRPr sz="2200" b="1">
                <a:solidFill>
                  <a:srgbClr val="436283"/>
                </a:solidFill>
                <a:latin typeface="+mn-lt"/>
                <a:ea typeface="+mn-ea"/>
                <a:cs typeface="+mn-cs"/>
                <a:sym typeface="Gill Sans" pitchFamily="-112" charset="0"/>
              </a:defRPr>
            </a:lvl9pPr>
          </a:lstStyle>
          <a:p>
            <a:r>
              <a:rPr lang="fr-FR" sz="1800" dirty="0"/>
              <a:t>Le modèle repose sur le couplage de </a:t>
            </a:r>
            <a:r>
              <a:rPr lang="fr-FR" sz="1800" b="1" dirty="0"/>
              <a:t>deux niveaux :</a:t>
            </a:r>
            <a:endParaRPr lang="fr-FR" sz="1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513573-7240-298B-93BD-866AFD1220DB}"/>
              </a:ext>
            </a:extLst>
          </p:cNvPr>
          <p:cNvSpPr/>
          <p:nvPr/>
        </p:nvSpPr>
        <p:spPr bwMode="auto">
          <a:xfrm>
            <a:off x="4096904" y="2249440"/>
            <a:ext cx="3096344" cy="97153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27EB39-362D-79BE-65FB-9FFA2636FCDC}"/>
              </a:ext>
            </a:extLst>
          </p:cNvPr>
          <p:cNvGrpSpPr/>
          <p:nvPr/>
        </p:nvGrpSpPr>
        <p:grpSpPr>
          <a:xfrm>
            <a:off x="7329264" y="6310313"/>
            <a:ext cx="2859037" cy="246221"/>
            <a:chOff x="7201616" y="6351131"/>
            <a:chExt cx="2859037" cy="246221"/>
          </a:xfrm>
        </p:grpSpPr>
        <p:pic>
          <p:nvPicPr>
            <p:cNvPr id="13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22A217DF-F16C-EE39-DF35-2A6A3E530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9688" y="6351133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07944F-9922-7052-C989-CDEF1B6277B2}"/>
                </a:ext>
              </a:extLst>
            </p:cNvPr>
            <p:cNvSpPr/>
            <p:nvPr/>
          </p:nvSpPr>
          <p:spPr>
            <a:xfrm>
              <a:off x="7201616" y="6351131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D84B760-2705-DC48-846A-F575AD67D3FB}"/>
              </a:ext>
            </a:extLst>
          </p:cNvPr>
          <p:cNvSpPr/>
          <p:nvPr/>
        </p:nvSpPr>
        <p:spPr bwMode="auto">
          <a:xfrm>
            <a:off x="2705896" y="5103472"/>
            <a:ext cx="2952328" cy="45424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85759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F6A59-9B4A-ED9C-94A3-374DE633A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13">
                <a:extLst>
                  <a:ext uri="{FF2B5EF4-FFF2-40B4-BE49-F238E27FC236}">
                    <a16:creationId xmlns:a16="http://schemas.microsoft.com/office/drawing/2014/main" id="{2F22A34E-D930-614B-9D88-DF91542BB6E8}"/>
                  </a:ext>
                </a:extLst>
              </p:cNvPr>
              <p:cNvSpPr txBox="1"/>
              <p:nvPr/>
            </p:nvSpPr>
            <p:spPr>
              <a:xfrm>
                <a:off x="3260812" y="1031331"/>
                <a:ext cx="4178606" cy="309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Objectif : </a:t>
                </a:r>
                <a:r>
                  <a:rPr lang="fr-FR" dirty="0"/>
                  <a:t>Calculer les profils de concentration</a:t>
                </a:r>
                <a14:m>
                  <m:oMath xmlns:m="http://schemas.openxmlformats.org/officeDocument/2006/math">
                    <m:r>
                      <a:rPr lang="en-GB" b="0" i="0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fr-FR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13">
                <a:extLst>
                  <a:ext uri="{FF2B5EF4-FFF2-40B4-BE49-F238E27FC236}">
                    <a16:creationId xmlns:a16="http://schemas.microsoft.com/office/drawing/2014/main" id="{2F22A34E-D930-614B-9D88-DF91542BB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812" y="1031331"/>
                <a:ext cx="4178606" cy="309437"/>
              </a:xfrm>
              <a:prstGeom prst="rect">
                <a:avLst/>
              </a:prstGeom>
              <a:blipFill>
                <a:blip r:embed="rId3"/>
                <a:stretch>
                  <a:fillRect l="-146" t="-3922" b="-1960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re 1">
            <a:extLst>
              <a:ext uri="{FF2B5EF4-FFF2-40B4-BE49-F238E27FC236}">
                <a16:creationId xmlns:a16="http://schemas.microsoft.com/office/drawing/2014/main" id="{2DEEE909-EC42-2790-10D2-3EB5221B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Niveau 1 : Dégradation chimique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5BB289-71EE-01D3-3C8D-7C9C178C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6</a:t>
            </a:fld>
            <a:endParaRPr lang="fr-FR" alt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72F3067-27AD-B37C-EC58-2DD6366B7EDF}"/>
                  </a:ext>
                </a:extLst>
              </p:cNvPr>
              <p:cNvSpPr txBox="1"/>
              <p:nvPr/>
            </p:nvSpPr>
            <p:spPr>
              <a:xfrm>
                <a:off x="4113326" y="1580565"/>
                <a:ext cx="4490747" cy="870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𝑝𝑟𝑜𝑑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fr-FR">
                              <a:solidFill>
                                <a:schemeClr val="bg2"/>
                              </a:solidFill>
                            </a:rPr>
                            <m:t>Production</m:t>
                          </m:r>
                        </m:lim>
                      </m:limLow>
                      <m:r>
                        <a:rPr lang="fr-FR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𝑐𝑜𝑛𝑠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fr-FR">
                              <a:solidFill>
                                <a:schemeClr val="bg2"/>
                              </a:solidFill>
                            </a:rPr>
                            <m:t>Consommation</m:t>
                          </m:r>
                        </m:lim>
                      </m:limLow>
                    </m:oMath>
                  </m:oMathPara>
                </a14:m>
                <a:endParaRPr lang="fr-FR" dirty="0">
                  <a:solidFill>
                    <a:schemeClr val="bg2"/>
                  </a:solidFill>
                </a:endParaRPr>
              </a:p>
            </p:txBody>
          </p:sp>
        </mc:Choice>
        <mc:Fallback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72F3067-27AD-B37C-EC58-2DD6366B7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326" y="1580565"/>
                <a:ext cx="4490747" cy="870303"/>
              </a:xfrm>
              <a:prstGeom prst="rect">
                <a:avLst/>
              </a:prstGeom>
              <a:blipFill>
                <a:blip r:embed="rId4"/>
                <a:stretch>
                  <a:fillRect t="-32867" r="-815" b="-13706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AC1003B-9013-DBA9-F467-45BDE2764D27}"/>
              </a:ext>
            </a:extLst>
          </p:cNvPr>
          <p:cNvGrpSpPr/>
          <p:nvPr/>
        </p:nvGrpSpPr>
        <p:grpSpPr>
          <a:xfrm>
            <a:off x="7201616" y="6351131"/>
            <a:ext cx="2859037" cy="246221"/>
            <a:chOff x="7201616" y="6351131"/>
            <a:chExt cx="2859037" cy="246221"/>
          </a:xfrm>
        </p:grpSpPr>
        <p:pic>
          <p:nvPicPr>
            <p:cNvPr id="17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A3EE7518-BC53-C4D2-87B5-C52CEC14B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9688" y="6351133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71B1C20-91F3-BEFE-E9C9-0BAE70E8946F}"/>
                </a:ext>
              </a:extLst>
            </p:cNvPr>
            <p:cNvSpPr/>
            <p:nvPr/>
          </p:nvSpPr>
          <p:spPr>
            <a:xfrm>
              <a:off x="7201616" y="6351131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77B41C-30EE-2633-5C94-023B04D03C21}"/>
              </a:ext>
            </a:extLst>
          </p:cNvPr>
          <p:cNvGrpSpPr/>
          <p:nvPr/>
        </p:nvGrpSpPr>
        <p:grpSpPr>
          <a:xfrm>
            <a:off x="731960" y="2780928"/>
            <a:ext cx="8854842" cy="1509675"/>
            <a:chOff x="587944" y="2973625"/>
            <a:chExt cx="8854842" cy="150967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727E3B-9CFD-C17A-6706-28B1A7FEFE6E}"/>
                </a:ext>
              </a:extLst>
            </p:cNvPr>
            <p:cNvSpPr txBox="1"/>
            <p:nvPr/>
          </p:nvSpPr>
          <p:spPr>
            <a:xfrm>
              <a:off x="587944" y="2973625"/>
              <a:ext cx="88548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fr-FR" b="1" dirty="0"/>
                <a:t> Mobiles (Diffusion + Réaction) : </a:t>
              </a:r>
              <a:r>
                <a:rPr lang="fr-FR" dirty="0"/>
                <a:t>Oxygène (</a:t>
              </a:r>
              <a:r>
                <a:rPr lang="fr-FR" dirty="0">
                  <a:solidFill>
                    <a:schemeClr val="bg2"/>
                  </a:solidFill>
                </a:rPr>
                <a:t>O2</a:t>
              </a:r>
              <a:r>
                <a:rPr lang="fr-FR" dirty="0"/>
                <a:t>), Désinfectant (</a:t>
              </a:r>
              <a:r>
                <a:rPr lang="fr-FR" dirty="0">
                  <a:solidFill>
                    <a:schemeClr val="bg2"/>
                  </a:solidFill>
                </a:rPr>
                <a:t>DOC</a:t>
              </a:r>
              <a:r>
                <a:rPr lang="fr-FR" dirty="0"/>
                <a:t>), Antioxydant (</a:t>
              </a:r>
              <a:r>
                <a:rPr lang="fr-FR" dirty="0">
                  <a:solidFill>
                    <a:schemeClr val="bg2"/>
                  </a:solidFill>
                </a:rPr>
                <a:t>AH</a:t>
              </a:r>
              <a:r>
                <a:rPr lang="fr-FR" dirty="0"/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21E377A-E095-559C-D525-80F9A2DF4052}"/>
                    </a:ext>
                  </a:extLst>
                </p:cNvPr>
                <p:cNvSpPr txBox="1"/>
                <p:nvPr/>
              </p:nvSpPr>
              <p:spPr>
                <a:xfrm>
                  <a:off x="811941" y="3422224"/>
                  <a:ext cx="27021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400050" indent="-400050">
                    <a:buAutoNum type="romanUcPeriod" startAt="2"/>
                  </a:pPr>
                  <a:r>
                    <a:rPr lang="fr-FR" b="1" dirty="0"/>
                    <a:t>Immobiles </a:t>
                  </a:r>
                </a:p>
                <a:p>
                  <a:r>
                    <a:rPr lang="fr-FR" b="1" dirty="0"/>
                    <a:t>       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r>
                            <a:rPr lang="fr-FR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en-GB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)+ </m:t>
                      </m:r>
                    </m:oMath>
                  </a14:m>
                  <a:r>
                    <a:rPr lang="fr-FR" b="1" dirty="0"/>
                    <a:t>Réaction) </a:t>
                  </a: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21E377A-E095-559C-D525-80F9A2DF40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1941" y="3422224"/>
                  <a:ext cx="2702117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5F87B51-3960-422F-9D3C-89F1D59BFF00}"/>
                    </a:ext>
                  </a:extLst>
                </p:cNvPr>
                <p:cNvSpPr txBox="1"/>
                <p:nvPr/>
              </p:nvSpPr>
              <p:spPr>
                <a:xfrm>
                  <a:off x="3382230" y="3436860"/>
                  <a:ext cx="5747483" cy="10464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 algn="l"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fr-FR" b="1" dirty="0"/>
                    <a:t>Consommées : </a:t>
                  </a:r>
                  <a:r>
                    <a:rPr lang="fr-FR" dirty="0"/>
                    <a:t>Matrice Polyéthylène (</a:t>
                  </a:r>
                  <a:r>
                    <a:rPr lang="fr-FR" dirty="0">
                      <a:solidFill>
                        <a:schemeClr val="bg2"/>
                      </a:solidFill>
                    </a:rPr>
                    <a:t>PH</a:t>
                  </a:r>
                  <a:r>
                    <a:rPr lang="fr-FR" dirty="0"/>
                    <a:t>), </a:t>
                  </a:r>
                  <a:r>
                    <a:rPr lang="fr-FR" dirty="0" err="1"/>
                    <a:t>Hydroperoxydes</a:t>
                  </a:r>
                  <a:r>
                    <a:rPr lang="fr-FR" dirty="0"/>
                    <a:t> (</a:t>
                  </a:r>
                  <a:r>
                    <a:rPr lang="fr-FR" dirty="0">
                      <a:solidFill>
                        <a:schemeClr val="bg2"/>
                      </a:solidFill>
                    </a:rPr>
                    <a:t>POOH</a:t>
                  </a:r>
                  <a:r>
                    <a:rPr lang="fr-FR" dirty="0"/>
                    <a:t>)</a:t>
                  </a:r>
                </a:p>
                <a:p>
                  <a:pPr marL="285750" indent="-285750" algn="l">
                    <a:spcAft>
                      <a:spcPts val="1200"/>
                    </a:spcAft>
                    <a:buFont typeface="Arial" panose="020B0604020202020204" pitchFamily="34" charset="0"/>
                    <a:buChar char="•"/>
                  </a:pPr>
                  <a:r>
                    <a:rPr lang="fr-FR" b="1" dirty="0"/>
                    <a:t>Intermédiaires (Produites et Consommées) : </a:t>
                  </a:r>
                  <a:r>
                    <a:rPr lang="fr-FR" dirty="0"/>
                    <a:t>Radicaux (</a:t>
                  </a:r>
                  <a:r>
                    <a:rPr lang="fr-FR" dirty="0">
                      <a:solidFill>
                        <a:schemeClr val="bg2"/>
                      </a:solidFill>
                    </a:rPr>
                    <a:t>P∙</a:t>
                  </a:r>
                  <a:r>
                    <a:rPr lang="fr-FR" dirty="0"/>
                    <a:t> , </a:t>
                  </a:r>
                  <a:r>
                    <a:rPr lang="fr-FR" dirty="0">
                      <a:solidFill>
                        <a:schemeClr val="bg2"/>
                      </a:solidFill>
                    </a:rPr>
                    <a:t>PO2∙</a:t>
                  </a:r>
                  <a:r>
                    <a:rPr lang="fr-FR" dirty="0"/>
                    <a:t>)</a:t>
                  </a:r>
                </a:p>
                <a:p>
                  <a:pPr marL="285750" indent="-285750" algn="l">
                    <a:buFont typeface="Arial" panose="020B0604020202020204" pitchFamily="34" charset="0"/>
                    <a:buChar char="•"/>
                  </a:pPr>
                  <a:r>
                    <a:rPr lang="fr-FR" b="1" dirty="0"/>
                    <a:t>Produites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𝐤</m:t>
                          </m:r>
                        </m:e>
                        <m:sub>
                          <m:r>
                            <a:rPr lang="fr-FR" b="1">
                              <a:latin typeface="Cambria Math" panose="02040503050406030204" pitchFamily="18" charset="0"/>
                            </a:rPr>
                            <m:t>𝐜𝐨𝐧𝐬</m:t>
                          </m:r>
                        </m:sub>
                      </m:sSub>
                      <m:r>
                        <a:rPr lang="fr-FR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b="1" dirty="0"/>
                    <a:t>= 0) :</a:t>
                  </a:r>
                  <a:endParaRPr lang="fr-FR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5F87B51-3960-422F-9D3C-89F1D59BFF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2230" y="3436860"/>
                  <a:ext cx="5747483" cy="1046440"/>
                </a:xfrm>
                <a:prstGeom prst="rect">
                  <a:avLst/>
                </a:prstGeom>
                <a:blipFill>
                  <a:blip r:embed="rId7"/>
                  <a:stretch>
                    <a:fillRect l="-106" t="-1163" b="-52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Left Brace 38">
            <a:extLst>
              <a:ext uri="{FF2B5EF4-FFF2-40B4-BE49-F238E27FC236}">
                <a16:creationId xmlns:a16="http://schemas.microsoft.com/office/drawing/2014/main" id="{56275419-0F66-5D76-D78C-C21B2380F2ED}"/>
              </a:ext>
            </a:extLst>
          </p:cNvPr>
          <p:cNvSpPr/>
          <p:nvPr/>
        </p:nvSpPr>
        <p:spPr bwMode="auto">
          <a:xfrm>
            <a:off x="3477561" y="3354600"/>
            <a:ext cx="145141" cy="846820"/>
          </a:xfrm>
          <a:prstGeom prst="leftBrace">
            <a:avLst>
              <a:gd name="adj1" fmla="val 0"/>
              <a:gd name="adj2" fmla="val 23772"/>
            </a:avLst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9E2A23-FDAA-4D5D-77E9-DEDBEE17644F}"/>
              </a:ext>
            </a:extLst>
          </p:cNvPr>
          <p:cNvSpPr txBox="1"/>
          <p:nvPr/>
        </p:nvSpPr>
        <p:spPr>
          <a:xfrm>
            <a:off x="6149704" y="3936395"/>
            <a:ext cx="374441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lnSpc>
                <a:spcPts val="1500"/>
              </a:lnSpc>
              <a:spcAft>
                <a:spcPts val="600"/>
              </a:spcAft>
            </a:pPr>
            <a:r>
              <a:rPr lang="fr-FR" sz="1400" kern="1200" dirty="0">
                <a:solidFill>
                  <a:srgbClr val="384F70"/>
                </a:solidFill>
                <a:effectLst/>
                <a:latin typeface="Gill Sans MT" panose="020B0502020104020203" pitchFamily="34" charset="0"/>
                <a:ea typeface="ヒラギノ角ゴ ProN W3"/>
                <a:cs typeface="ヒラギノ角ゴ ProN W3"/>
              </a:rPr>
              <a:t>Coupures de chaînes (</a:t>
            </a:r>
            <a:r>
              <a:rPr lang="fr-FR" dirty="0">
                <a:solidFill>
                  <a:schemeClr val="bg2"/>
                </a:solidFill>
              </a:rPr>
              <a:t>s</a:t>
            </a:r>
            <a:r>
              <a:rPr lang="fr-FR" sz="1400" kern="1200" dirty="0">
                <a:solidFill>
                  <a:srgbClr val="384F70"/>
                </a:solidFill>
                <a:effectLst/>
                <a:latin typeface="Gill Sans MT" panose="020B0502020104020203" pitchFamily="34" charset="0"/>
                <a:ea typeface="ヒラギノ角ゴ ProN W3"/>
                <a:cs typeface="ヒラギノ角ゴ ProN W3"/>
              </a:rPr>
              <a:t>) et Réticulations (</a:t>
            </a:r>
            <a:r>
              <a:rPr lang="fr-FR" dirty="0">
                <a:solidFill>
                  <a:schemeClr val="bg2"/>
                </a:solidFill>
              </a:rPr>
              <a:t>x</a:t>
            </a:r>
            <a:r>
              <a:rPr lang="fr-FR" sz="1400" kern="1200" dirty="0">
                <a:solidFill>
                  <a:srgbClr val="384F70"/>
                </a:solidFill>
                <a:effectLst/>
                <a:latin typeface="Gill Sans MT" panose="020B0502020104020203" pitchFamily="34" charset="0"/>
                <a:ea typeface="ヒラギノ角ゴ ProN W3"/>
                <a:cs typeface="ヒラギノ角ゴ ProN W3"/>
              </a:rPr>
              <a:t>)</a:t>
            </a:r>
            <a:endParaRPr lang="fr-FR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DF555-3CD6-9C91-A417-F910C64751A4}"/>
              </a:ext>
            </a:extLst>
          </p:cNvPr>
          <p:cNvSpPr txBox="1"/>
          <p:nvPr/>
        </p:nvSpPr>
        <p:spPr>
          <a:xfrm>
            <a:off x="6152123" y="4561964"/>
            <a:ext cx="33373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dirty="0"/>
              <a:t>Carbonyles [</a:t>
            </a:r>
            <a:r>
              <a:rPr lang="fr-FR" dirty="0">
                <a:solidFill>
                  <a:schemeClr val="bg2"/>
                </a:solidFill>
              </a:rPr>
              <a:t>CO</a:t>
            </a:r>
            <a:r>
              <a:rPr lang="fr-FR" dirty="0"/>
              <a:t>], </a:t>
            </a:r>
            <a:r>
              <a:rPr lang="fr-FR" dirty="0" err="1"/>
              <a:t>Hydroperoxydes</a:t>
            </a:r>
            <a:r>
              <a:rPr lang="fr-FR" dirty="0"/>
              <a:t> [</a:t>
            </a:r>
            <a:r>
              <a:rPr lang="fr-FR" dirty="0">
                <a:solidFill>
                  <a:schemeClr val="bg2"/>
                </a:solidFill>
              </a:rPr>
              <a:t>POOH</a:t>
            </a:r>
            <a:r>
              <a:rPr lang="fr-FR" dirty="0"/>
              <a:t>] et des produits chlorés [</a:t>
            </a:r>
            <a:r>
              <a:rPr lang="fr-FR" dirty="0" err="1">
                <a:solidFill>
                  <a:schemeClr val="bg2"/>
                </a:solidFill>
              </a:rPr>
              <a:t>PCl</a:t>
            </a:r>
            <a:r>
              <a:rPr lang="fr-FR" dirty="0"/>
              <a:t>]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8417BE4B-50B2-70A2-14B4-5B18219BBAE7}"/>
              </a:ext>
            </a:extLst>
          </p:cNvPr>
          <p:cNvSpPr/>
          <p:nvPr/>
        </p:nvSpPr>
        <p:spPr bwMode="auto">
          <a:xfrm rot="16200000">
            <a:off x="2507841" y="5619907"/>
            <a:ext cx="319103" cy="326469"/>
          </a:xfrm>
          <a:prstGeom prst="downArrow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798AA1-ED87-9AE9-2C1C-BA15290A7BE3}"/>
              </a:ext>
            </a:extLst>
          </p:cNvPr>
          <p:cNvGrpSpPr/>
          <p:nvPr/>
        </p:nvGrpSpPr>
        <p:grpSpPr>
          <a:xfrm>
            <a:off x="1928664" y="4725144"/>
            <a:ext cx="4915223" cy="1926593"/>
            <a:chOff x="591139" y="4581128"/>
            <a:chExt cx="4915223" cy="1926593"/>
          </a:xfrm>
        </p:grpSpPr>
        <p:pic>
          <p:nvPicPr>
            <p:cNvPr id="33" name="Picture 32" descr="A graph with lines and dots&#10;&#10;AI-generated content may be incorrect.">
              <a:extLst>
                <a:ext uri="{FF2B5EF4-FFF2-40B4-BE49-F238E27FC236}">
                  <a16:creationId xmlns:a16="http://schemas.microsoft.com/office/drawing/2014/main" id="{DFAC27A7-2592-DCBB-0068-868460C09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7172" r="66330" b="4972"/>
            <a:stretch>
              <a:fillRect/>
            </a:stretch>
          </p:blipFill>
          <p:spPr>
            <a:xfrm>
              <a:off x="1653458" y="4888905"/>
              <a:ext cx="2520280" cy="16188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A2DBF2-1266-81D7-8664-1754B74FCFD1}"/>
                    </a:ext>
                  </a:extLst>
                </p:cNvPr>
                <p:cNvSpPr txBox="1"/>
                <p:nvPr/>
              </p:nvSpPr>
              <p:spPr>
                <a:xfrm>
                  <a:off x="591139" y="4581128"/>
                  <a:ext cx="4915223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a14:m>
                  <a:r>
                    <a:rPr lang="fr-FR" dirty="0">
                      <a:solidFill>
                        <a:schemeClr val="bg2"/>
                      </a:solidFill>
                    </a:rPr>
                    <a:t>, i={1,..,12}</a:t>
                  </a:r>
                  <a:endParaRPr lang="fr-FR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AA2DBF2-1266-81D7-8664-1754B74FC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139" y="4581128"/>
                  <a:ext cx="4915223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AB9F1C4-5116-C10D-1271-5F6E5DCA96B6}"/>
              </a:ext>
            </a:extLst>
          </p:cNvPr>
          <p:cNvSpPr/>
          <p:nvPr/>
        </p:nvSpPr>
        <p:spPr bwMode="auto">
          <a:xfrm>
            <a:off x="2090396" y="1646516"/>
            <a:ext cx="1368152" cy="384023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254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>
                <a:ln>
                  <a:noFill/>
                </a:ln>
                <a:solidFill>
                  <a:srgbClr val="384F70"/>
                </a:solidFill>
                <a:effectLst/>
                <a:latin typeface="Gill Sans" pitchFamily="-112" charset="0"/>
                <a:ea typeface="ヒラギノ角ゴ ProN W3" pitchFamily="-112" charset="-128"/>
                <a:cs typeface="ヒラギノ角ゴ ProN W3" pitchFamily="-112" charset="-128"/>
                <a:sym typeface="Gill Sans" pitchFamily="-112" charset="0"/>
              </a:rPr>
              <a:t>12 espèces</a:t>
            </a: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899CFBB7-F11D-E108-FFE9-E2E07A9B29DB}"/>
              </a:ext>
            </a:extLst>
          </p:cNvPr>
          <p:cNvSpPr/>
          <p:nvPr/>
        </p:nvSpPr>
        <p:spPr bwMode="auto">
          <a:xfrm rot="16200000">
            <a:off x="3694110" y="1669624"/>
            <a:ext cx="319103" cy="326469"/>
          </a:xfrm>
          <a:prstGeom prst="downArrow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 dirty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46" name="Left Brace 45">
            <a:extLst>
              <a:ext uri="{FF2B5EF4-FFF2-40B4-BE49-F238E27FC236}">
                <a16:creationId xmlns:a16="http://schemas.microsoft.com/office/drawing/2014/main" id="{B9D3D551-2402-E7DD-4F62-6D70699946E6}"/>
              </a:ext>
            </a:extLst>
          </p:cNvPr>
          <p:cNvSpPr/>
          <p:nvPr/>
        </p:nvSpPr>
        <p:spPr bwMode="auto">
          <a:xfrm>
            <a:off x="5817096" y="4063940"/>
            <a:ext cx="261744" cy="688056"/>
          </a:xfrm>
          <a:prstGeom prst="leftBrace">
            <a:avLst>
              <a:gd name="adj1" fmla="val 0"/>
              <a:gd name="adj2" fmla="val 14058"/>
            </a:avLst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137D4F-3679-34A4-E9A8-1CEE298556FA}"/>
              </a:ext>
            </a:extLst>
          </p:cNvPr>
          <p:cNvSpPr txBox="1"/>
          <p:nvPr/>
        </p:nvSpPr>
        <p:spPr>
          <a:xfrm>
            <a:off x="1568624" y="5608221"/>
            <a:ext cx="9355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Output 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858850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2000-DC92-AD5B-7E80-20E71F36D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13">
            <a:extLst>
              <a:ext uri="{FF2B5EF4-FFF2-40B4-BE49-F238E27FC236}">
                <a16:creationId xmlns:a16="http://schemas.microsoft.com/office/drawing/2014/main" id="{AE5C17EA-9858-DF2B-9B9C-4F7F4E0D15CD}"/>
              </a:ext>
            </a:extLst>
          </p:cNvPr>
          <p:cNvSpPr txBox="1"/>
          <p:nvPr/>
        </p:nvSpPr>
        <p:spPr>
          <a:xfrm>
            <a:off x="1839930" y="1281032"/>
            <a:ext cx="6968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 : </a:t>
            </a:r>
            <a:r>
              <a:rPr lang="fr-FR" dirty="0"/>
              <a:t>Quantifier la dégradation de la structure macromoléculaire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2A6262-ADF2-2412-D5EE-C76F1248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Niveau 2 : Chute de Masse Molaire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6C169E-275E-12B2-5041-9BF18A004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7</a:t>
            </a:fld>
            <a:endParaRPr lang="fr-FR" altLang="fr-FR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8AB7C0-0AB3-3970-1CE8-560E30E19DC5}"/>
              </a:ext>
            </a:extLst>
          </p:cNvPr>
          <p:cNvGrpSpPr/>
          <p:nvPr/>
        </p:nvGrpSpPr>
        <p:grpSpPr>
          <a:xfrm>
            <a:off x="7082731" y="4500610"/>
            <a:ext cx="2859037" cy="253252"/>
            <a:chOff x="7134523" y="4293096"/>
            <a:chExt cx="2859037" cy="253252"/>
          </a:xfrm>
        </p:grpSpPr>
        <p:pic>
          <p:nvPicPr>
            <p:cNvPr id="17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78714316-3894-DAF0-198D-0EAA29D638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9648" y="4300129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A49E16-A4F5-3CA3-84E8-7C4AD9409C4A}"/>
                </a:ext>
              </a:extLst>
            </p:cNvPr>
            <p:cNvSpPr/>
            <p:nvPr/>
          </p:nvSpPr>
          <p:spPr>
            <a:xfrm>
              <a:off x="7134523" y="4293096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  <p:sp>
        <p:nvSpPr>
          <p:cNvPr id="13" name="ZoneTexte 13">
            <a:extLst>
              <a:ext uri="{FF2B5EF4-FFF2-40B4-BE49-F238E27FC236}">
                <a16:creationId xmlns:a16="http://schemas.microsoft.com/office/drawing/2014/main" id="{659A707E-5FBB-0380-67E4-0859FEF230E7}"/>
              </a:ext>
            </a:extLst>
          </p:cNvPr>
          <p:cNvSpPr txBox="1"/>
          <p:nvPr/>
        </p:nvSpPr>
        <p:spPr>
          <a:xfrm>
            <a:off x="2298682" y="5753725"/>
            <a:ext cx="6110371" cy="700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/>
              <a:t>Chaîne de Causalité : </a:t>
            </a:r>
          </a:p>
          <a:p>
            <a:pPr>
              <a:lnSpc>
                <a:spcPct val="150000"/>
              </a:lnSpc>
            </a:pPr>
            <a:r>
              <a:rPr lang="fr-FR" dirty="0"/>
              <a:t>Chimie (Niveau 1) → Événements de chaîne (S, X) → Chute de </a:t>
            </a:r>
            <a:r>
              <a:rPr lang="fr-FR" dirty="0" err="1"/>
              <a:t>Mw</a:t>
            </a:r>
            <a:r>
              <a:rPr lang="fr-FR" dirty="0"/>
              <a:t> ​ (Niveau 2)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F7FBCA-C43E-1A83-AFA0-953EC98D0EAD}"/>
              </a:ext>
            </a:extLst>
          </p:cNvPr>
          <p:cNvSpPr txBox="1"/>
          <p:nvPr/>
        </p:nvSpPr>
        <p:spPr>
          <a:xfrm>
            <a:off x="2000672" y="2449503"/>
            <a:ext cx="1800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Schéma cinétique du Niveau 1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808037CE-BE19-8EEE-F66A-B5A99F48D721}"/>
              </a:ext>
            </a:extLst>
          </p:cNvPr>
          <p:cNvSpPr/>
          <p:nvPr/>
        </p:nvSpPr>
        <p:spPr bwMode="auto">
          <a:xfrm rot="16200000">
            <a:off x="3948571" y="2560975"/>
            <a:ext cx="319103" cy="326469"/>
          </a:xfrm>
          <a:prstGeom prst="downArrow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5D60F-0D6A-3392-7489-00A81048EB29}"/>
                  </a:ext>
                </a:extLst>
              </p:cNvPr>
              <p:cNvSpPr txBox="1"/>
              <p:nvPr/>
            </p:nvSpPr>
            <p:spPr>
              <a:xfrm>
                <a:off x="6194499" y="2473732"/>
                <a:ext cx="31509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fr-FR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15D60F-0D6A-3392-7489-00A81048E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499" y="2473732"/>
                <a:ext cx="315098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73CA2-9879-C951-0C6B-29B9E5F3B96D}"/>
                  </a:ext>
                </a:extLst>
              </p:cNvPr>
              <p:cNvSpPr txBox="1"/>
              <p:nvPr/>
            </p:nvSpPr>
            <p:spPr>
              <a:xfrm>
                <a:off x="5156379" y="3844650"/>
                <a:ext cx="5097780" cy="5470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den>
                      </m:f>
                      <m:r>
                        <a:rPr lang="fr-FR" b="0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fr-FR" b="0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fr-FR" b="0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fr-FR" b="0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sty m:val="p"/>
                        </m:rPr>
                        <a:rPr lang="fr-FR" b="0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b="0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fr-FR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DD73CA2-9879-C951-0C6B-29B9E5F3B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379" y="3844650"/>
                <a:ext cx="5097780" cy="5470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A530754-6907-4657-F85E-A6FF39578B4C}"/>
              </a:ext>
            </a:extLst>
          </p:cNvPr>
          <p:cNvSpPr txBox="1"/>
          <p:nvPr/>
        </p:nvSpPr>
        <p:spPr>
          <a:xfrm>
            <a:off x="4387830" y="2449503"/>
            <a:ext cx="2336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Nombre d'événements de chaîne à chaque t et z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B23A587-87F9-A2C1-AA9F-20C81BBA68CD}"/>
              </a:ext>
            </a:extLst>
          </p:cNvPr>
          <p:cNvSpPr/>
          <p:nvPr/>
        </p:nvSpPr>
        <p:spPr bwMode="auto">
          <a:xfrm rot="16200000">
            <a:off x="6846273" y="2547878"/>
            <a:ext cx="319103" cy="326469"/>
          </a:xfrm>
          <a:prstGeom prst="downArrow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A5A8156-A3D6-760E-C62B-14894A70AA08}"/>
              </a:ext>
            </a:extLst>
          </p:cNvPr>
          <p:cNvSpPr/>
          <p:nvPr/>
        </p:nvSpPr>
        <p:spPr bwMode="auto">
          <a:xfrm>
            <a:off x="7545718" y="3302577"/>
            <a:ext cx="319103" cy="326469"/>
          </a:xfrm>
          <a:prstGeom prst="downArrow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D0D52AAE-C511-19F9-B682-E934F714DE67}"/>
              </a:ext>
            </a:extLst>
          </p:cNvPr>
          <p:cNvSpPr/>
          <p:nvPr/>
        </p:nvSpPr>
        <p:spPr bwMode="auto">
          <a:xfrm rot="5400000">
            <a:off x="5597829" y="3957469"/>
            <a:ext cx="319103" cy="326469"/>
          </a:xfrm>
          <a:prstGeom prst="downArrow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6B16D6-A837-36E6-18F3-9F2962BA8CD5}"/>
                  </a:ext>
                </a:extLst>
              </p:cNvPr>
              <p:cNvSpPr txBox="1"/>
              <p:nvPr/>
            </p:nvSpPr>
            <p:spPr>
              <a:xfrm>
                <a:off x="2532627" y="3265239"/>
                <a:ext cx="31509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26B16D6-A837-36E6-18F3-9F2962BA8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627" y="3265239"/>
                <a:ext cx="3150989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9DA081CE-B719-3A08-6A7C-374EA7930A7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735"/>
          <a:stretch>
            <a:fillRect/>
          </a:stretch>
        </p:blipFill>
        <p:spPr>
          <a:xfrm>
            <a:off x="2730696" y="3534657"/>
            <a:ext cx="2623172" cy="178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1836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8F26A-D5C4-6985-7910-6FAA140A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3E52E0-856C-3B6E-0C7E-05F0116C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 Démarche : Calcul des Grandeurs d'Intérêt</a:t>
            </a:r>
            <a:endParaRPr lang="fr-FR" b="0" dirty="0"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4E2B18-CB83-4D98-79AD-170B9EE375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8</a:t>
            </a:fld>
            <a:endParaRPr lang="fr-FR" altLang="fr-FR"/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E4BE8455-0061-0532-D42B-66DEE1D8F922}"/>
              </a:ext>
            </a:extLst>
          </p:cNvPr>
          <p:cNvSpPr txBox="1">
            <a:spLocks/>
          </p:cNvSpPr>
          <p:nvPr/>
        </p:nvSpPr>
        <p:spPr bwMode="auto">
          <a:xfrm>
            <a:off x="1094274" y="1222913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kern="0" dirty="0"/>
              <a:t>I. Mise à Jour des Paramètres en Température</a:t>
            </a:r>
          </a:p>
        </p:txBody>
      </p:sp>
      <p:sp>
        <p:nvSpPr>
          <p:cNvPr id="37" name="Titre 1">
            <a:extLst>
              <a:ext uri="{FF2B5EF4-FFF2-40B4-BE49-F238E27FC236}">
                <a16:creationId xmlns:a16="http://schemas.microsoft.com/office/drawing/2014/main" id="{E8B17BD0-E3A2-242F-38F5-E7CACF3AFA55}"/>
              </a:ext>
            </a:extLst>
          </p:cNvPr>
          <p:cNvSpPr txBox="1">
            <a:spLocks/>
          </p:cNvSpPr>
          <p:nvPr/>
        </p:nvSpPr>
        <p:spPr bwMode="auto">
          <a:xfrm>
            <a:off x="755460" y="3763175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kern="0" dirty="0"/>
              <a:t>II. Indice de Temps d'Oxydation (OIT)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B64FC6-3BF9-6902-9893-F75385C6A326}"/>
                  </a:ext>
                </a:extLst>
              </p:cNvPr>
              <p:cNvSpPr txBox="1"/>
              <p:nvPr/>
            </p:nvSpPr>
            <p:spPr>
              <a:xfrm>
                <a:off x="5553307" y="2051842"/>
                <a:ext cx="5086350" cy="576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fr-FR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func>
                        <m:func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RT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fr-FR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B64FC6-3BF9-6902-9893-F75385C6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307" y="2051842"/>
                <a:ext cx="5086350" cy="5763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10C79FF-B307-FF7E-F344-D55D16230965}"/>
              </a:ext>
            </a:extLst>
          </p:cNvPr>
          <p:cNvSpPr txBox="1"/>
          <p:nvPr/>
        </p:nvSpPr>
        <p:spPr>
          <a:xfrm>
            <a:off x="1699397" y="2977207"/>
            <a:ext cx="7083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où A est le facteur pré-exponentiel, </a:t>
            </a:r>
            <a:r>
              <a:rPr lang="fr-FR" dirty="0" err="1">
                <a:solidFill>
                  <a:schemeClr val="bg2"/>
                </a:solidFill>
              </a:rPr>
              <a:t>Ea</a:t>
            </a:r>
            <a:r>
              <a:rPr lang="fr-FR" dirty="0">
                <a:solidFill>
                  <a:schemeClr val="bg2"/>
                </a:solidFill>
              </a:rPr>
              <a:t> l'énergie d'activation et R la constante des gaz parfaits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EE49CE-3FF2-432A-57F2-CE3010422CDC}"/>
              </a:ext>
            </a:extLst>
          </p:cNvPr>
          <p:cNvSpPr/>
          <p:nvPr/>
        </p:nvSpPr>
        <p:spPr bwMode="auto">
          <a:xfrm>
            <a:off x="1752082" y="1840354"/>
            <a:ext cx="1706466" cy="724550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25400" cap="flat" cmpd="sng" algn="ctr">
            <a:solidFill>
              <a:schemeClr val="bg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fr-FR" sz="1600" dirty="0"/>
              <a:t>Ki(T), Di(T)</a:t>
            </a:r>
            <a:endParaRPr kumimoji="0" lang="fr-FR" sz="1600" b="0" i="0" u="none" strike="noStrike" cap="none" normalizeH="0" baseline="0" dirty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B5C0938-1CA7-90D6-E5F4-DCCAF20394F1}"/>
              </a:ext>
            </a:extLst>
          </p:cNvPr>
          <p:cNvSpPr/>
          <p:nvPr/>
        </p:nvSpPr>
        <p:spPr bwMode="auto">
          <a:xfrm rot="16200000">
            <a:off x="3672064" y="2023452"/>
            <a:ext cx="319103" cy="326469"/>
          </a:xfrm>
          <a:prstGeom prst="downArrow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DBA77-9780-312D-2D4F-4BE4282CC1E9}"/>
              </a:ext>
            </a:extLst>
          </p:cNvPr>
          <p:cNvSpPr txBox="1"/>
          <p:nvPr/>
        </p:nvSpPr>
        <p:spPr>
          <a:xfrm>
            <a:off x="1673815" y="2186687"/>
            <a:ext cx="18836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Thermo-dépendants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1D3C70-61AD-68B2-472F-31232555CCA1}"/>
              </a:ext>
            </a:extLst>
          </p:cNvPr>
          <p:cNvSpPr txBox="1"/>
          <p:nvPr/>
        </p:nvSpPr>
        <p:spPr>
          <a:xfrm>
            <a:off x="4097549" y="1921597"/>
            <a:ext cx="24924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Mis à jour pour la température de simulation T 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9C28A07-3CBE-D7AD-FD54-C4078F97204E}"/>
              </a:ext>
            </a:extLst>
          </p:cNvPr>
          <p:cNvSpPr/>
          <p:nvPr/>
        </p:nvSpPr>
        <p:spPr bwMode="auto">
          <a:xfrm rot="16200000">
            <a:off x="6740562" y="2018421"/>
            <a:ext cx="319103" cy="326469"/>
          </a:xfrm>
          <a:prstGeom prst="downArrow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 dirty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8360D8-73BA-B675-FA6C-75EF8C6AD33A}"/>
              </a:ext>
            </a:extLst>
          </p:cNvPr>
          <p:cNvSpPr txBox="1"/>
          <p:nvPr/>
        </p:nvSpPr>
        <p:spPr>
          <a:xfrm>
            <a:off x="7060208" y="1844824"/>
            <a:ext cx="2001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loi d'Arrhenius 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0E7AB5-270B-85FF-95AB-F6EACDB9E424}"/>
              </a:ext>
            </a:extLst>
          </p:cNvPr>
          <p:cNvSpPr txBox="1"/>
          <p:nvPr/>
        </p:nvSpPr>
        <p:spPr>
          <a:xfrm>
            <a:off x="1475540" y="4147072"/>
            <a:ext cx="7920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OIT → mesure expérimentale de la concentration résiduelle en antioxydant.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86FEAD-95A6-C7AB-1242-C19224C96C74}"/>
                  </a:ext>
                </a:extLst>
              </p:cNvPr>
              <p:cNvSpPr txBox="1"/>
              <p:nvPr/>
            </p:nvSpPr>
            <p:spPr>
              <a:xfrm>
                <a:off x="2682880" y="4609798"/>
                <a:ext cx="5321808" cy="5473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OIT</m:t>
                      </m:r>
                      <m:d>
                        <m:d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  <m:r>
                        <a:rPr lang="fr-FR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AH</m:t>
                              </m:r>
                            </m:e>
                          </m:d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fr-FR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AH</m:t>
                                  </m:r>
                                </m:e>
                              </m:d>
                            </m:e>
                            <m:sub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86FEAD-95A6-C7AB-1242-C19224C96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880" y="4609798"/>
                <a:ext cx="5321808" cy="5473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14C1F651-0F31-16F5-3D98-34D176A32C6C}"/>
              </a:ext>
            </a:extLst>
          </p:cNvPr>
          <p:cNvSpPr txBox="1"/>
          <p:nvPr/>
        </p:nvSpPr>
        <p:spPr>
          <a:xfrm>
            <a:off x="1802149" y="5209455"/>
            <a:ext cx="7083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où ti0: OIT initial du matériau non-vieilli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750312C-6BB5-60BA-59DC-50273E07602A}"/>
              </a:ext>
            </a:extLst>
          </p:cNvPr>
          <p:cNvGrpSpPr/>
          <p:nvPr/>
        </p:nvGrpSpPr>
        <p:grpSpPr>
          <a:xfrm>
            <a:off x="7060208" y="4756869"/>
            <a:ext cx="2859037" cy="253252"/>
            <a:chOff x="7134523" y="4293096"/>
            <a:chExt cx="2859037" cy="253252"/>
          </a:xfrm>
        </p:grpSpPr>
        <p:pic>
          <p:nvPicPr>
            <p:cNvPr id="49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2E1D4CB4-5EF6-FC65-DA1E-AA5103044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9648" y="4300129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D861CD9-5BFF-1A65-18D8-892094935289}"/>
                </a:ext>
              </a:extLst>
            </p:cNvPr>
            <p:cNvSpPr/>
            <p:nvPr/>
          </p:nvSpPr>
          <p:spPr>
            <a:xfrm>
              <a:off x="7134523" y="4293096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71281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49C4E-C735-B189-B5DE-FD5811FA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13">
            <a:extLst>
              <a:ext uri="{FF2B5EF4-FFF2-40B4-BE49-F238E27FC236}">
                <a16:creationId xmlns:a16="http://schemas.microsoft.com/office/drawing/2014/main" id="{D6EEFBAC-1D94-082E-6392-D8093A7C7294}"/>
              </a:ext>
            </a:extLst>
          </p:cNvPr>
          <p:cNvSpPr txBox="1"/>
          <p:nvPr/>
        </p:nvSpPr>
        <p:spPr>
          <a:xfrm>
            <a:off x="1875217" y="5226469"/>
            <a:ext cx="696835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système d'EDO obtenu est numériquement </a:t>
            </a:r>
            <a:r>
              <a:rPr lang="fr-FR" u="sng" dirty="0"/>
              <a:t>raide</a:t>
            </a:r>
          </a:p>
          <a:p>
            <a:endParaRPr lang="fr-FR" dirty="0"/>
          </a:p>
          <a:p>
            <a:pPr>
              <a:spcAft>
                <a:spcPts val="400"/>
              </a:spcAft>
            </a:pPr>
            <a:r>
              <a:rPr lang="fr-FR" b="1" dirty="0"/>
              <a:t>Pourquoi? </a:t>
            </a:r>
            <a:r>
              <a:rPr lang="fr-FR" dirty="0"/>
              <a:t>→</a:t>
            </a:r>
            <a:r>
              <a:rPr lang="fr-FR" b="1" dirty="0"/>
              <a:t> </a:t>
            </a:r>
            <a:r>
              <a:rPr lang="fr-FR" dirty="0"/>
              <a:t>Grande disparité des constantes de temps caractéristiques du système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/>
              <a:t>Cinétiques de réaction radicalaire (très rapides, τ≪1s 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fr-FR" dirty="0"/>
              <a:t>Phénomènes de diffusion (très lents, τ∼ jours/mois)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8680196-AD5F-9C25-B976-B54FF48EE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 Démarche : Implémentation Numérique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3810DB-62CA-BB1C-4E87-DA68CB4609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9</a:t>
            </a:fld>
            <a:endParaRPr lang="fr-FR" alt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9A08BAC-09FE-A7C9-53C4-CBD2F5CD166C}"/>
              </a:ext>
            </a:extLst>
          </p:cNvPr>
          <p:cNvSpPr txBox="1"/>
          <p:nvPr/>
        </p:nvSpPr>
        <p:spPr>
          <a:xfrm>
            <a:off x="1181414" y="1136135"/>
            <a:ext cx="8355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Pour résoudre le système d'équations de réaction-diffusion, une approche numérique spécifique a été implémentée en Python</a:t>
            </a:r>
          </a:p>
        </p:txBody>
      </p:sp>
      <p:sp>
        <p:nvSpPr>
          <p:cNvPr id="3" name="ZoneTexte 13">
            <a:extLst>
              <a:ext uri="{FF2B5EF4-FFF2-40B4-BE49-F238E27FC236}">
                <a16:creationId xmlns:a16="http://schemas.microsoft.com/office/drawing/2014/main" id="{8989CFEF-76B2-90A8-AD53-8FB9353AED1E}"/>
              </a:ext>
            </a:extLst>
          </p:cNvPr>
          <p:cNvSpPr txBox="1"/>
          <p:nvPr/>
        </p:nvSpPr>
        <p:spPr>
          <a:xfrm>
            <a:off x="948688" y="2276872"/>
            <a:ext cx="4148328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fr-FR" dirty="0"/>
              <a:t>Le système EDP →  un système de </a:t>
            </a:r>
            <a:r>
              <a:rPr lang="fr-FR" dirty="0" err="1"/>
              <a:t>N×nz</a:t>
            </a:r>
            <a:r>
              <a:rPr lang="fr-FR" dirty="0"/>
              <a:t> ​ EDO</a:t>
            </a:r>
          </a:p>
          <a:p>
            <a:r>
              <a:rPr lang="fr-FR" dirty="0"/>
              <a:t>où N=12 espèces et </a:t>
            </a:r>
            <a:r>
              <a:rPr lang="fr-FR" dirty="0" err="1"/>
              <a:t>nz</a:t>
            </a:r>
            <a:r>
              <a:rPr lang="fr-FR" dirty="0"/>
              <a:t>: nombre de points de grille</a:t>
            </a:r>
          </a:p>
          <a:p>
            <a:endParaRPr lang="fr-FR" dirty="0"/>
          </a:p>
          <a:p>
            <a:endParaRPr lang="fr-FR" dirty="0"/>
          </a:p>
          <a:p>
            <a:pPr>
              <a:spcAft>
                <a:spcPts val="400"/>
              </a:spcAft>
            </a:pPr>
            <a:r>
              <a:rPr lang="fr-FR" b="1" dirty="0"/>
              <a:t>Comment? </a:t>
            </a:r>
            <a:r>
              <a:rPr lang="fr-FR" dirty="0"/>
              <a:t>→ discrétiser                     par une</a:t>
            </a:r>
          </a:p>
          <a:p>
            <a:pPr>
              <a:spcAft>
                <a:spcPts val="400"/>
              </a:spcAft>
            </a:pPr>
            <a:r>
              <a:rPr lang="fr-FR" dirty="0"/>
              <a:t>méthode de différences finies centrées d'ordre 2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0E4A191-8487-C423-E7FA-D69F2155F4F5}"/>
              </a:ext>
            </a:extLst>
          </p:cNvPr>
          <p:cNvSpPr txBox="1">
            <a:spLocks/>
          </p:cNvSpPr>
          <p:nvPr/>
        </p:nvSpPr>
        <p:spPr bwMode="auto">
          <a:xfrm>
            <a:off x="819860" y="1774568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1. Discrétisation Spatiale : Méthode des Lignes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52A1872A-2DF1-95CB-8A75-0A45EE14D50D}"/>
              </a:ext>
            </a:extLst>
          </p:cNvPr>
          <p:cNvSpPr txBox="1">
            <a:spLocks/>
          </p:cNvSpPr>
          <p:nvPr/>
        </p:nvSpPr>
        <p:spPr bwMode="auto">
          <a:xfrm>
            <a:off x="416496" y="4797152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2. Le Défi de la Raideur Numérique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FE3FD8-62FE-9654-6CDC-FE4C66F3D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5008" y="2060848"/>
            <a:ext cx="4597188" cy="248480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D19AEAF-55B1-FB7C-1E97-33C48413D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903" y="4001779"/>
            <a:ext cx="2422733" cy="579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8DEF88-63E3-3376-4F2E-1E6DCBD26883}"/>
                  </a:ext>
                </a:extLst>
              </p:cNvPr>
              <p:cNvSpPr txBox="1"/>
              <p:nvPr/>
            </p:nvSpPr>
            <p:spPr>
              <a:xfrm>
                <a:off x="3388380" y="2996567"/>
                <a:ext cx="772080" cy="524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d>
                            <m:d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</m:num>
                        <m:den>
                          <m:r>
                            <a:rPr lang="fr-FR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p>
                              <m:r>
                                <a:rPr lang="fr-FR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8DEF88-63E3-3376-4F2E-1E6DCBD26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380" y="2996567"/>
                <a:ext cx="772080" cy="524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70944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EEFB-71D6-73EF-80E6-37AD9053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64D04-2B61-0B67-DE24-38E0CEBA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 Démarche : Implémentation Numérique</a:t>
            </a:r>
            <a:endParaRPr lang="fr-FR" b="0" dirty="0">
              <a:effectLst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607989-5E27-7FF0-F2D7-0C122B8A0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630424-6175-453F-9066-6B3164F9651B}" type="slidenum">
              <a:rPr lang="fr-FR" altLang="fr-FR" smtClean="0"/>
              <a:pPr/>
              <a:t>10</a:t>
            </a:fld>
            <a:endParaRPr lang="fr-FR" altLang="fr-FR"/>
          </a:p>
        </p:txBody>
      </p:sp>
      <p:sp>
        <p:nvSpPr>
          <p:cNvPr id="3" name="ZoneTexte 13">
            <a:extLst>
              <a:ext uri="{FF2B5EF4-FFF2-40B4-BE49-F238E27FC236}">
                <a16:creationId xmlns:a16="http://schemas.microsoft.com/office/drawing/2014/main" id="{B2EE2DC0-930E-62A9-2551-EFAE6869D343}"/>
              </a:ext>
            </a:extLst>
          </p:cNvPr>
          <p:cNvSpPr txBox="1"/>
          <p:nvPr/>
        </p:nvSpPr>
        <p:spPr>
          <a:xfrm>
            <a:off x="1136576" y="1486332"/>
            <a:ext cx="8208912" cy="574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fr-FR" dirty="0"/>
              <a:t>Pour un système raide, la stabilité impose Δt≪1 → Calcul trop long </a:t>
            </a:r>
          </a:p>
          <a:p>
            <a:r>
              <a:rPr lang="fr-FR" dirty="0"/>
              <a:t>Pour garantir la stabilité → schémas implicites où y(n+1) ​dépend de f(t(n+1), y(n+1))</a:t>
            </a:r>
          </a:p>
        </p:txBody>
      </p:sp>
      <p:sp>
        <p:nvSpPr>
          <p:cNvPr id="17" name="ZoneTexte 13">
            <a:extLst>
              <a:ext uri="{FF2B5EF4-FFF2-40B4-BE49-F238E27FC236}">
                <a16:creationId xmlns:a16="http://schemas.microsoft.com/office/drawing/2014/main" id="{097263D2-7C47-AA16-131D-DCA7D0ED78D3}"/>
              </a:ext>
            </a:extLst>
          </p:cNvPr>
          <p:cNvSpPr txBox="1"/>
          <p:nvPr/>
        </p:nvSpPr>
        <p:spPr>
          <a:xfrm>
            <a:off x="2319448" y="5850611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compromis précision/stabilité est géré via deux tolérances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EB8C537-C661-78DF-7672-61E9D251794B}"/>
              </a:ext>
            </a:extLst>
          </p:cNvPr>
          <p:cNvSpPr txBox="1">
            <a:spLocks/>
          </p:cNvSpPr>
          <p:nvPr/>
        </p:nvSpPr>
        <p:spPr bwMode="auto">
          <a:xfrm>
            <a:off x="849587" y="5466714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Paramètres du Solveur </a:t>
            </a:r>
            <a:r>
              <a:rPr lang="fr-FR" sz="1400" u="sng" kern="0" dirty="0" err="1"/>
              <a:t>solve_ivp</a:t>
            </a:r>
            <a:endParaRPr lang="fr-FR" sz="1400" u="sng" kern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E3C947-33B8-AE49-4C45-A80588D4742B}"/>
              </a:ext>
            </a:extLst>
          </p:cNvPr>
          <p:cNvSpPr txBox="1"/>
          <p:nvPr/>
        </p:nvSpPr>
        <p:spPr>
          <a:xfrm>
            <a:off x="4520952" y="5858108"/>
            <a:ext cx="5020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rtol</a:t>
            </a:r>
            <a:r>
              <a:rPr lang="fr-FR" dirty="0"/>
              <a:t> (tolérance relative)</a:t>
            </a:r>
          </a:p>
          <a:p>
            <a:r>
              <a:rPr lang="fr-FR" dirty="0" err="1"/>
              <a:t>atol</a:t>
            </a:r>
            <a:r>
              <a:rPr lang="fr-FR" dirty="0"/>
              <a:t> (tolérance absolue)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B900B823-5820-E63C-1F0E-640194F5FAC2}"/>
              </a:ext>
            </a:extLst>
          </p:cNvPr>
          <p:cNvSpPr/>
          <p:nvPr/>
        </p:nvSpPr>
        <p:spPr bwMode="auto">
          <a:xfrm rot="16200000">
            <a:off x="5533790" y="5956483"/>
            <a:ext cx="319103" cy="326469"/>
          </a:xfrm>
          <a:prstGeom prst="downArrow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200" b="0" i="0" u="none" strike="noStrike" cap="none" normalizeH="0" baseline="0">
              <a:ln>
                <a:noFill/>
              </a:ln>
              <a:solidFill>
                <a:srgbClr val="384F70"/>
              </a:solidFill>
              <a:effectLst/>
              <a:latin typeface="Gill Sans" pitchFamily="-112" charset="0"/>
              <a:ea typeface="ヒラギノ角ゴ ProN W3" pitchFamily="-112" charset="-128"/>
              <a:cs typeface="ヒラギノ角ゴ ProN W3" pitchFamily="-112" charset="-128"/>
              <a:sym typeface="Gill Sans" pitchFamily="-112" charset="0"/>
            </a:endParaRP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3B13DBD9-F48A-B742-971A-E4B77512BC45}"/>
              </a:ext>
            </a:extLst>
          </p:cNvPr>
          <p:cNvSpPr txBox="1">
            <a:spLocks/>
          </p:cNvSpPr>
          <p:nvPr/>
        </p:nvSpPr>
        <p:spPr bwMode="auto">
          <a:xfrm>
            <a:off x="560512" y="1074295"/>
            <a:ext cx="4680520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kern="0" dirty="0"/>
              <a:t>1. Le Défi : La Raideur Numérique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CE1094-4D70-74F6-132F-55214D8478E0}"/>
              </a:ext>
            </a:extLst>
          </p:cNvPr>
          <p:cNvGrpSpPr/>
          <p:nvPr/>
        </p:nvGrpSpPr>
        <p:grpSpPr>
          <a:xfrm>
            <a:off x="570192" y="2420888"/>
            <a:ext cx="9620568" cy="2616983"/>
            <a:chOff x="570192" y="1860529"/>
            <a:chExt cx="9620568" cy="2616983"/>
          </a:xfrm>
        </p:grpSpPr>
        <p:sp>
          <p:nvSpPr>
            <p:cNvPr id="12" name="Titre 1">
              <a:extLst>
                <a:ext uri="{FF2B5EF4-FFF2-40B4-BE49-F238E27FC236}">
                  <a16:creationId xmlns:a16="http://schemas.microsoft.com/office/drawing/2014/main" id="{5FD00240-D9A8-CCBD-6510-01519C20E11C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15398" y="2267638"/>
              <a:ext cx="4680520" cy="261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4D9C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50400" tIns="50400" rIns="50400" bIns="50400" numCol="1" anchor="ctr" anchorCtr="0" compatLnSpc="1">
              <a:prstTxWarp prst="textNoShape">
                <a:avLst/>
              </a:prstTxWarp>
            </a:bodyPr>
            <a:lstStyle>
              <a:lvl1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+mj-ea"/>
                  <a:cs typeface="+mj-cs"/>
                  <a:sym typeface="Gill Sans"/>
                </a:defRPr>
              </a:lvl1pPr>
              <a:lvl2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2pPr>
              <a:lvl3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3pPr>
              <a:lvl4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4pPr>
              <a:lvl5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9pPr>
            </a:lstStyle>
            <a:p>
              <a:r>
                <a:rPr lang="fr-FR" sz="1400" dirty="0"/>
                <a:t>BDF (</a:t>
              </a:r>
              <a:r>
                <a:rPr lang="fr-FR" sz="1400" dirty="0" err="1"/>
                <a:t>Backward</a:t>
              </a:r>
              <a:r>
                <a:rPr lang="fr-FR" sz="1400" dirty="0"/>
                <a:t> </a:t>
              </a:r>
              <a:r>
                <a:rPr lang="fr-FR" sz="1400" dirty="0" err="1"/>
                <a:t>Differentiation</a:t>
              </a:r>
              <a:r>
                <a:rPr lang="fr-FR" sz="1400" dirty="0"/>
                <a:t> Formula)</a:t>
              </a:r>
              <a:endParaRPr lang="fr-FR" sz="1400" u="sng" kern="0" dirty="0"/>
            </a:p>
          </p:txBody>
        </p:sp>
        <p:sp>
          <p:nvSpPr>
            <p:cNvPr id="16" name="Titre 1">
              <a:extLst>
                <a:ext uri="{FF2B5EF4-FFF2-40B4-BE49-F238E27FC236}">
                  <a16:creationId xmlns:a16="http://schemas.microsoft.com/office/drawing/2014/main" id="{D1B7E0E0-B742-1B9D-6F17-574DEFB8BA2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154702" y="2277647"/>
              <a:ext cx="4680520" cy="261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4D9C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50400" tIns="50400" rIns="50400" bIns="50400" numCol="1" anchor="ctr" anchorCtr="0" compatLnSpc="1">
              <a:prstTxWarp prst="textNoShape">
                <a:avLst/>
              </a:prstTxWarp>
            </a:bodyPr>
            <a:lstStyle>
              <a:lvl1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+mj-ea"/>
                  <a:cs typeface="+mj-cs"/>
                  <a:sym typeface="Gill Sans"/>
                </a:defRPr>
              </a:lvl1pPr>
              <a:lvl2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2pPr>
              <a:lvl3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3pPr>
              <a:lvl4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4pPr>
              <a:lvl5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9pPr>
            </a:lstStyle>
            <a:p>
              <a:r>
                <a:rPr lang="fr-FR" sz="1400" dirty="0" err="1"/>
                <a:t>Radau</a:t>
              </a:r>
              <a:endParaRPr lang="fr-FR" sz="1400" u="sng" kern="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F8BF462-E5C8-BB64-304C-9B2FB6F3BAF5}"/>
                    </a:ext>
                  </a:extLst>
                </p:cNvPr>
                <p:cNvSpPr txBox="1"/>
                <p:nvPr/>
              </p:nvSpPr>
              <p:spPr>
                <a:xfrm>
                  <a:off x="5154702" y="3901136"/>
                  <a:ext cx="4997196" cy="5763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fr-F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Δt</m:t>
                            </m:r>
                            <m: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b>
                            </m:sSub>
                            <m: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Δt</m:t>
                            </m:r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  <m: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i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i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ij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i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k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i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fr-FR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F8BF462-E5C8-BB64-304C-9B2FB6F3BA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4702" y="3901136"/>
                  <a:ext cx="4997196" cy="576376"/>
                </a:xfrm>
                <a:prstGeom prst="rect">
                  <a:avLst/>
                </a:prstGeom>
                <a:blipFill>
                  <a:blip r:embed="rId3"/>
                  <a:stretch>
                    <a:fillRect t="-122340" b="-18829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95C9EC-4C73-2689-07E8-22DDBBAB7C8C}"/>
                </a:ext>
              </a:extLst>
            </p:cNvPr>
            <p:cNvSpPr txBox="1"/>
            <p:nvPr/>
          </p:nvSpPr>
          <p:spPr>
            <a:xfrm>
              <a:off x="5115840" y="3700226"/>
              <a:ext cx="5074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Forme générale des étages intermédiaires 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0C903C8-4423-0F08-1361-BC7ADD571A54}"/>
                    </a:ext>
                  </a:extLst>
                </p:cNvPr>
                <p:cNvSpPr txBox="1"/>
                <p:nvPr/>
              </p:nvSpPr>
              <p:spPr>
                <a:xfrm>
                  <a:off x="609054" y="4019595"/>
                  <a:ext cx="509320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fr-FR" i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  <m:d>
                          <m:dPr>
                            <m:ctrlPr>
                              <a:rPr lang="fr-FR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fr-FR" i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fr-FR" i="0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solidFill>
                      <a:schemeClr val="bg2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0C903C8-4423-0F08-1361-BC7ADD571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054" y="4019595"/>
                  <a:ext cx="5093208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347415C-77A2-E483-6EE4-B0A260D95C37}"/>
                </a:ext>
              </a:extLst>
            </p:cNvPr>
            <p:cNvSpPr txBox="1"/>
            <p:nvPr/>
          </p:nvSpPr>
          <p:spPr>
            <a:xfrm>
              <a:off x="570192" y="3724547"/>
              <a:ext cx="50932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/>
                <a:t>Exemple (ordre 1) :</a:t>
              </a:r>
            </a:p>
          </p:txBody>
        </p:sp>
        <p:sp>
          <p:nvSpPr>
            <p:cNvPr id="37" name="Titre 1">
              <a:extLst>
                <a:ext uri="{FF2B5EF4-FFF2-40B4-BE49-F238E27FC236}">
                  <a16:creationId xmlns:a16="http://schemas.microsoft.com/office/drawing/2014/main" id="{79104458-2F21-7768-E29D-1485AAB67100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974272" y="1860529"/>
              <a:ext cx="4680520" cy="2618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4D9CA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50400" tIns="50400" rIns="50400" bIns="50400" numCol="1" anchor="ctr" anchorCtr="0" compatLnSpc="1">
              <a:prstTxWarp prst="textNoShape">
                <a:avLst/>
              </a:prstTxWarp>
            </a:bodyPr>
            <a:lstStyle>
              <a:lvl1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+mj-ea"/>
                  <a:cs typeface="+mj-cs"/>
                  <a:sym typeface="Gill Sans"/>
                </a:defRPr>
              </a:lvl1pPr>
              <a:lvl2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2pPr>
              <a:lvl3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3pPr>
              <a:lvl4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4pPr>
              <a:lvl5pPr algn="ctr" defTabSz="565150" rtl="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2F425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 MT" panose="020B0502020104020203" pitchFamily="34" charset="0"/>
                  <a:ea typeface="ヒラギノ角ゴ ProN W6" pitchFamily="-112" charset="-128"/>
                  <a:cs typeface="ヒラギノ角ゴ ProN W6" pitchFamily="-112" charset="-128"/>
                  <a:sym typeface="Gill Sans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100" b="1">
                  <a:solidFill>
                    <a:srgbClr val="43628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Gill Sans" pitchFamily="-112" charset="0"/>
                  <a:ea typeface="ヒラギノ角ゴ ProN W6" pitchFamily="-112" charset="-128"/>
                  <a:cs typeface="ヒラギノ角ゴ ProN W6" pitchFamily="-112" charset="-128"/>
                  <a:sym typeface="Gill Sans" pitchFamily="-112" charset="0"/>
                </a:defRPr>
              </a:lvl9pPr>
            </a:lstStyle>
            <a:p>
              <a:r>
                <a:rPr lang="fr-FR" sz="1400" kern="0" dirty="0"/>
                <a:t>II. Les Solveurs Implicites Choisis (</a:t>
              </a:r>
              <a:r>
                <a:rPr lang="fr-FR" sz="1400" kern="0" dirty="0" err="1"/>
                <a:t>solve_ivp</a:t>
              </a:r>
              <a:r>
                <a:rPr lang="fr-FR" sz="1400" kern="0" dirty="0"/>
                <a:t>)</a:t>
              </a:r>
            </a:p>
          </p:txBody>
        </p:sp>
        <p:sp>
          <p:nvSpPr>
            <p:cNvPr id="39" name="ZoneTexte 13">
              <a:extLst>
                <a:ext uri="{FF2B5EF4-FFF2-40B4-BE49-F238E27FC236}">
                  <a16:creationId xmlns:a16="http://schemas.microsoft.com/office/drawing/2014/main" id="{32A2A6C7-4C3E-EEBC-587D-BF081EF0CC03}"/>
                </a:ext>
              </a:extLst>
            </p:cNvPr>
            <p:cNvSpPr txBox="1"/>
            <p:nvPr/>
          </p:nvSpPr>
          <p:spPr>
            <a:xfrm>
              <a:off x="1235711" y="2655986"/>
              <a:ext cx="4157641" cy="8156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fr-FR" dirty="0"/>
                <a:t>Méthode multi-pas implicite</a:t>
              </a:r>
            </a:p>
            <a:p>
              <a:pPr marL="285750" indent="-285750" algn="l"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fr-FR" dirty="0"/>
                <a:t>Construit un polynôme sur les points précédents (</a:t>
              </a:r>
              <a:r>
                <a:rPr lang="fr-FR" dirty="0" err="1"/>
                <a:t>yn</a:t>
              </a:r>
              <a:r>
                <a:rPr lang="fr-FR" dirty="0"/>
                <a:t>, y(n-1), ...) pour approximer la solution 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823D956-EE5A-A5BC-839A-231B40106C07}"/>
                </a:ext>
              </a:extLst>
            </p:cNvPr>
            <p:cNvSpPr txBox="1"/>
            <p:nvPr/>
          </p:nvSpPr>
          <p:spPr>
            <a:xfrm>
              <a:off x="5879152" y="2655986"/>
              <a:ext cx="3548296" cy="7463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lnSpc>
                  <a:spcPts val="15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fr-FR" dirty="0"/>
                <a:t>Méthode de Runge-</a:t>
              </a:r>
              <a:r>
                <a:rPr lang="fr-FR" dirty="0" err="1"/>
                <a:t>Kutta</a:t>
              </a:r>
              <a:r>
                <a:rPr lang="fr-FR" dirty="0"/>
                <a:t> implicite</a:t>
              </a:r>
            </a:p>
            <a:p>
              <a:pPr marL="285750" indent="-285750" algn="l">
                <a:lnSpc>
                  <a:spcPts val="1500"/>
                </a:lnSpc>
                <a:spcAft>
                  <a:spcPts val="225"/>
                </a:spcAft>
                <a:buFont typeface="Arial" panose="020B0604020202020204" pitchFamily="34" charset="0"/>
                <a:buChar char="•"/>
              </a:pPr>
              <a:r>
                <a:rPr lang="fr-FR" dirty="0"/>
                <a:t>Calcule des "étages" intermédiaires pour une haute précision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26170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11</a:t>
            </a:fld>
            <a:endParaRPr lang="fr-FR" altLang="fr-FR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 Démarche : Implémentation Numérique</a:t>
            </a:r>
            <a:endParaRPr lang="fr-FR" altLang="fr-FR" dirty="0">
              <a:effectLst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99313A-3D08-464B-4CAA-7837F83B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101"/>
          <a:stretch>
            <a:fillRect/>
          </a:stretch>
        </p:blipFill>
        <p:spPr>
          <a:xfrm>
            <a:off x="1208584" y="1253170"/>
            <a:ext cx="7397733" cy="5444011"/>
          </a:xfrm>
          <a:prstGeom prst="rect">
            <a:avLst/>
          </a:prstGeom>
        </p:spPr>
      </p:pic>
      <p:sp>
        <p:nvSpPr>
          <p:cNvPr id="29" name="ZoneTexte 13">
            <a:extLst>
              <a:ext uri="{FF2B5EF4-FFF2-40B4-BE49-F238E27FC236}">
                <a16:creationId xmlns:a16="http://schemas.microsoft.com/office/drawing/2014/main" id="{0D92376F-ECBA-F909-0D02-0C083AC432DE}"/>
              </a:ext>
            </a:extLst>
          </p:cNvPr>
          <p:cNvSpPr txBox="1"/>
          <p:nvPr/>
        </p:nvSpPr>
        <p:spPr>
          <a:xfrm>
            <a:off x="3623765" y="1250176"/>
            <a:ext cx="57217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Paramètres Matériau et Conditions de Simulation :</a:t>
            </a:r>
          </a:p>
          <a:p>
            <a:r>
              <a:rPr lang="fr-FR" u="sng" dirty="0"/>
              <a:t>Propriétés du PE (Réf. Colin): </a:t>
            </a:r>
            <a:r>
              <a:rPr lang="fr-FR" dirty="0" err="1"/>
              <a:t>Mw</a:t>
            </a:r>
            <a:r>
              <a:rPr lang="fr-FR" dirty="0"/>
              <a:t>₀, ρ, [AH]₀, oit_0, z</a:t>
            </a:r>
          </a:p>
          <a:p>
            <a:r>
              <a:rPr lang="fr-FR" dirty="0"/>
              <a:t>Température, [DOC]ppm, Durée de simulation.</a:t>
            </a:r>
          </a:p>
        </p:txBody>
      </p:sp>
      <p:sp>
        <p:nvSpPr>
          <p:cNvPr id="36" name="ZoneTexte 13">
            <a:extLst>
              <a:ext uri="{FF2B5EF4-FFF2-40B4-BE49-F238E27FC236}">
                <a16:creationId xmlns:a16="http://schemas.microsoft.com/office/drawing/2014/main" id="{5DEA1622-DD51-7825-9C46-92F90624108F}"/>
              </a:ext>
            </a:extLst>
          </p:cNvPr>
          <p:cNvSpPr txBox="1"/>
          <p:nvPr/>
        </p:nvSpPr>
        <p:spPr>
          <a:xfrm>
            <a:off x="3728864" y="2276872"/>
            <a:ext cx="57217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Conditions Initiales (t=0) :</a:t>
            </a:r>
          </a:p>
          <a:p>
            <a:r>
              <a:rPr lang="fr-FR" dirty="0"/>
              <a:t>[PH]₀, [AH]₀, [POOH]₀, [O₂]₀ : Uniformes et non nulles.</a:t>
            </a:r>
          </a:p>
          <a:p>
            <a:r>
              <a:rPr lang="fr-FR" dirty="0"/>
              <a:t>[DOC]₀ = 0 (dans la masse), autres espèces (radicaux, produits) = 0.</a:t>
            </a:r>
          </a:p>
          <a:p>
            <a:endParaRPr lang="fr-FR" dirty="0"/>
          </a:p>
          <a:p>
            <a:r>
              <a:rPr lang="fr-FR" b="1" dirty="0"/>
              <a:t>Conditions aux Limites (t &gt; 0) :</a:t>
            </a:r>
            <a:endParaRPr lang="fr-FR" dirty="0"/>
          </a:p>
          <a:p>
            <a:r>
              <a:rPr lang="fr-FR" b="1" dirty="0"/>
              <a:t>z=0 (Interface Eau/PE) :</a:t>
            </a:r>
          </a:p>
          <a:p>
            <a:r>
              <a:rPr lang="fr-FR" dirty="0"/>
              <a:t>[O₂], [DOC] : Concentrations fixes (équilibre avec l'eau).</a:t>
            </a:r>
          </a:p>
          <a:p>
            <a:r>
              <a:rPr lang="fr-FR" dirty="0"/>
              <a:t>AH : Flux d'extraction (-β₀[AH]) + Réactions.</a:t>
            </a:r>
          </a:p>
          <a:p>
            <a:r>
              <a:rPr lang="fr-FR" dirty="0"/>
              <a:t>Autres espèces : Réactions seules.</a:t>
            </a:r>
          </a:p>
          <a:p>
            <a:endParaRPr lang="fr-FR" dirty="0"/>
          </a:p>
          <a:p>
            <a:r>
              <a:rPr lang="fr-FR" b="1" dirty="0"/>
              <a:t>z=L (Interface Air/PE) :</a:t>
            </a:r>
          </a:p>
          <a:p>
            <a:r>
              <a:rPr lang="fr-FR" dirty="0"/>
              <a:t>[O₂]: Concentration fixe (équilibre avec l'air).</a:t>
            </a:r>
          </a:p>
          <a:p>
            <a:r>
              <a:rPr lang="fr-FR" dirty="0"/>
              <a:t>DOC: Flux nul (∂[DOC]/∂z = 0) + Réactions.</a:t>
            </a:r>
          </a:p>
          <a:p>
            <a:r>
              <a:rPr lang="fr-FR" dirty="0"/>
              <a:t>AH: Flux d'évaporation (-βL[AH]) + Réactions.</a:t>
            </a:r>
          </a:p>
          <a:p>
            <a:r>
              <a:rPr lang="fr-FR" dirty="0"/>
              <a:t>Autres espèces : Réactions seules.</a:t>
            </a:r>
          </a:p>
        </p:txBody>
      </p:sp>
    </p:spTree>
    <p:extLst>
      <p:ext uri="{BB962C8B-B14F-4D97-AF65-F5344CB8AC3E}">
        <p14:creationId xmlns:p14="http://schemas.microsoft.com/office/powerpoint/2010/main" val="25294574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12</a:t>
            </a:fld>
            <a:endParaRPr lang="fr-FR" altLang="fr-FR"/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sz="2400" dirty="0"/>
              <a:t>III. Résultats : Résultats préliminaires</a:t>
            </a:r>
            <a:endParaRPr lang="fr-FR" sz="2400" b="0" dirty="0">
              <a:effectLst/>
            </a:endParaRPr>
          </a:p>
        </p:txBody>
      </p:sp>
      <p:sp>
        <p:nvSpPr>
          <p:cNvPr id="2" name="ZoneTexte 9">
            <a:extLst>
              <a:ext uri="{FF2B5EF4-FFF2-40B4-BE49-F238E27FC236}">
                <a16:creationId xmlns:a16="http://schemas.microsoft.com/office/drawing/2014/main" id="{BD416E28-CAD7-381E-D1C7-E760786C9B9E}"/>
              </a:ext>
            </a:extLst>
          </p:cNvPr>
          <p:cNvSpPr txBox="1"/>
          <p:nvPr/>
        </p:nvSpPr>
        <p:spPr>
          <a:xfrm>
            <a:off x="1925435" y="1124744"/>
            <a:ext cx="6867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simulation de référence permet d'analyser l'évolution des profils des espèces clés à travers l'épaisseur du tuyau.</a:t>
            </a:r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D91BF07C-C84D-4318-C1DF-76AA8382D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151"/>
          <a:stretch>
            <a:fillRect/>
          </a:stretch>
        </p:blipFill>
        <p:spPr>
          <a:xfrm>
            <a:off x="1005520" y="1700808"/>
            <a:ext cx="8697540" cy="2170715"/>
          </a:xfrm>
          <a:prstGeom prst="rect">
            <a:avLst/>
          </a:prstGeom>
        </p:spPr>
      </p:pic>
      <p:sp>
        <p:nvSpPr>
          <p:cNvPr id="7" name="ZoneTexte 9">
            <a:extLst>
              <a:ext uri="{FF2B5EF4-FFF2-40B4-BE49-F238E27FC236}">
                <a16:creationId xmlns:a16="http://schemas.microsoft.com/office/drawing/2014/main" id="{DE0E5804-113B-FF10-1D55-A970805722EB}"/>
              </a:ext>
            </a:extLst>
          </p:cNvPr>
          <p:cNvSpPr txBox="1"/>
          <p:nvPr/>
        </p:nvSpPr>
        <p:spPr>
          <a:xfrm>
            <a:off x="1496616" y="4075255"/>
            <a:ext cx="24482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Comportement : </a:t>
            </a:r>
            <a:r>
              <a:rPr lang="fr-FR" dirty="0"/>
              <a:t>Profil asymétrique </a:t>
            </a:r>
          </a:p>
          <a:p>
            <a:r>
              <a:rPr lang="fr-FR" b="1" dirty="0"/>
              <a:t>Temps courts (3.67 ans) : </a:t>
            </a:r>
            <a:r>
              <a:rPr lang="fr-FR" dirty="0"/>
              <a:t>"Puits" de concentration à z=0 </a:t>
            </a:r>
          </a:p>
          <a:p>
            <a:endParaRPr lang="fr-FR" dirty="0"/>
          </a:p>
          <a:p>
            <a:r>
              <a:rPr lang="fr-FR" dirty="0"/>
              <a:t>→ Consommation locale d'O₂ par oxydation (initiée par le DOC) est plus rapide que sa </a:t>
            </a:r>
            <a:r>
              <a:rPr lang="fr-FR" dirty="0" err="1"/>
              <a:t>re-diffusion</a:t>
            </a:r>
            <a:r>
              <a:rPr lang="fr-FR" dirty="0"/>
              <a:t> depuis l'eau</a:t>
            </a:r>
          </a:p>
        </p:txBody>
      </p:sp>
      <p:sp>
        <p:nvSpPr>
          <p:cNvPr id="11" name="ZoneTexte 9">
            <a:extLst>
              <a:ext uri="{FF2B5EF4-FFF2-40B4-BE49-F238E27FC236}">
                <a16:creationId xmlns:a16="http://schemas.microsoft.com/office/drawing/2014/main" id="{EB1084B2-19A2-5352-52C6-7DD5A977FA03}"/>
              </a:ext>
            </a:extLst>
          </p:cNvPr>
          <p:cNvSpPr txBox="1"/>
          <p:nvPr/>
        </p:nvSpPr>
        <p:spPr>
          <a:xfrm>
            <a:off x="4237881" y="4075254"/>
            <a:ext cx="25510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Deux mécanismes de perte:</a:t>
            </a:r>
          </a:p>
          <a:p>
            <a:endParaRPr lang="fr-FR" b="1" dirty="0"/>
          </a:p>
          <a:p>
            <a:r>
              <a:rPr lang="fr-FR" b="1" dirty="0"/>
              <a:t>Chimique (z=0) :</a:t>
            </a:r>
            <a:r>
              <a:rPr lang="fr-FR" dirty="0"/>
              <a:t> Front de déplétion (attaque par DOC)</a:t>
            </a:r>
          </a:p>
          <a:p>
            <a:endParaRPr lang="fr-FR" b="1" dirty="0"/>
          </a:p>
          <a:p>
            <a:r>
              <a:rPr lang="fr-FR" b="1" dirty="0"/>
              <a:t>Physique (z=L et cœur) :</a:t>
            </a:r>
            <a:r>
              <a:rPr lang="fr-FR" dirty="0"/>
              <a:t> Diffusion et évaporation</a:t>
            </a:r>
          </a:p>
          <a:p>
            <a:endParaRPr lang="fr-FR" b="1" dirty="0"/>
          </a:p>
        </p:txBody>
      </p:sp>
      <p:sp>
        <p:nvSpPr>
          <p:cNvPr id="12" name="ZoneTexte 9">
            <a:extLst>
              <a:ext uri="{FF2B5EF4-FFF2-40B4-BE49-F238E27FC236}">
                <a16:creationId xmlns:a16="http://schemas.microsoft.com/office/drawing/2014/main" id="{E333762A-EE33-6447-ECC2-8ADD27A2E22C}"/>
              </a:ext>
            </a:extLst>
          </p:cNvPr>
          <p:cNvSpPr txBox="1"/>
          <p:nvPr/>
        </p:nvSpPr>
        <p:spPr>
          <a:xfrm>
            <a:off x="7081912" y="4075254"/>
            <a:ext cx="25510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Comportement :</a:t>
            </a:r>
            <a:r>
              <a:rPr lang="fr-FR" dirty="0"/>
              <a:t> Pénétration limitée (z=1.2mm)</a:t>
            </a:r>
          </a:p>
          <a:p>
            <a:endParaRPr lang="fr-FR" dirty="0"/>
          </a:p>
          <a:p>
            <a:r>
              <a:rPr lang="fr-FR" b="1" dirty="0"/>
              <a:t>Cause :</a:t>
            </a:r>
            <a:r>
              <a:rPr lang="fr-FR" dirty="0"/>
              <a:t> Forte réactivité avec PE/AH</a:t>
            </a:r>
          </a:p>
          <a:p>
            <a:endParaRPr lang="fr-FR" dirty="0"/>
          </a:p>
          <a:p>
            <a:r>
              <a:rPr lang="fr-FR" dirty="0"/>
              <a:t>→ Cinétique contrôlée par la </a:t>
            </a:r>
            <a:r>
              <a:rPr lang="fr-FR" b="1" dirty="0"/>
              <a:t>réaction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51028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D5E88-F633-1265-9B09-4507CECB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8D8E3B58-49E7-9AD6-49A9-693C600C4E9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13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A82BFA18-6AD1-92FD-1E24-D1BAF60FD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>
                <a:effectLst/>
              </a:rPr>
              <a:t>Validation numérique vs. Littérature (PE80/DOC)</a:t>
            </a: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0ACCE1FC-5E16-C4AC-6B66-382672E6A318}"/>
              </a:ext>
            </a:extLst>
          </p:cNvPr>
          <p:cNvSpPr txBox="1"/>
          <p:nvPr/>
        </p:nvSpPr>
        <p:spPr>
          <a:xfrm>
            <a:off x="1753888" y="4941168"/>
            <a:ext cx="720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→  </a:t>
            </a:r>
            <a:r>
              <a:rPr lang="fr-FR" b="1" dirty="0"/>
              <a:t>Bon accord qualitatif :</a:t>
            </a:r>
            <a:r>
              <a:rPr lang="fr-FR" dirty="0"/>
              <a:t> Les plateaux d'OIT et les fronts de déplétion sont bien reproduits</a:t>
            </a:r>
          </a:p>
          <a:p>
            <a:endParaRPr lang="fr-FR" dirty="0"/>
          </a:p>
          <a:p>
            <a:r>
              <a:rPr lang="fr-FR" dirty="0"/>
              <a:t>→  Les légers écarts quantitatifs sur la position des fronts valident la nécessité d'une analyse de sensibilité des paramètres du modèle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9AD95B-9C82-0A8A-33B0-A0653DCFBF85}"/>
              </a:ext>
            </a:extLst>
          </p:cNvPr>
          <p:cNvSpPr txBox="1"/>
          <p:nvPr/>
        </p:nvSpPr>
        <p:spPr>
          <a:xfrm>
            <a:off x="2035638" y="4222615"/>
            <a:ext cx="663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OIT vs temps (PE100, 4.5mm, 40ºC)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CAB2EC8E-D3E9-8498-0FF9-978D731756E9}"/>
              </a:ext>
            </a:extLst>
          </p:cNvPr>
          <p:cNvSpPr txBox="1">
            <a:spLocks/>
          </p:cNvSpPr>
          <p:nvPr/>
        </p:nvSpPr>
        <p:spPr bwMode="auto">
          <a:xfrm>
            <a:off x="776536" y="1062714"/>
            <a:ext cx="5832648" cy="25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1. Validation des Profils d'OIT (Réf. Figure 3, Colin et al. 2009)</a:t>
            </a:r>
          </a:p>
        </p:txBody>
      </p:sp>
      <p:pic>
        <p:nvPicPr>
          <p:cNvPr id="3" name="Picture 2" descr="A diagram of a curve&#10;&#10;AI-generated content may be incorrect.">
            <a:extLst>
              <a:ext uri="{FF2B5EF4-FFF2-40B4-BE49-F238E27FC236}">
                <a16:creationId xmlns:a16="http://schemas.microsoft.com/office/drawing/2014/main" id="{1A45BEC8-09E4-3B1C-1B30-AEC2D2CAB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240" y="1781372"/>
            <a:ext cx="3815256" cy="2516057"/>
          </a:xfrm>
          <a:prstGeom prst="rect">
            <a:avLst/>
          </a:prstGeom>
        </p:spPr>
      </p:pic>
      <p:pic>
        <p:nvPicPr>
          <p:cNvPr id="6" name="Picture 5" descr="A graph of a graph showing different types of data&#10;&#10;AI-generated content may be incorrect.">
            <a:extLst>
              <a:ext uri="{FF2B5EF4-FFF2-40B4-BE49-F238E27FC236}">
                <a16:creationId xmlns:a16="http://schemas.microsoft.com/office/drawing/2014/main" id="{79771D2A-9B49-EEC9-20FD-49D47A49F3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44"/>
          <a:stretch>
            <a:fillRect/>
          </a:stretch>
        </p:blipFill>
        <p:spPr>
          <a:xfrm>
            <a:off x="1208584" y="1702270"/>
            <a:ext cx="3672408" cy="2470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B3D169-D36F-4DC6-86FD-16D36C2465E2}"/>
              </a:ext>
            </a:extLst>
          </p:cNvPr>
          <p:cNvSpPr txBox="1"/>
          <p:nvPr/>
        </p:nvSpPr>
        <p:spPr>
          <a:xfrm>
            <a:off x="2576736" y="1455307"/>
            <a:ext cx="1308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Simulation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048A8C-4FDB-3BF1-A07C-A48D49035400}"/>
              </a:ext>
            </a:extLst>
          </p:cNvPr>
          <p:cNvSpPr txBox="1"/>
          <p:nvPr/>
        </p:nvSpPr>
        <p:spPr>
          <a:xfrm>
            <a:off x="6308588" y="1461043"/>
            <a:ext cx="2748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P</a:t>
            </a:r>
            <a:r>
              <a:rPr lang="fr-FR" dirty="0">
                <a:solidFill>
                  <a:schemeClr val="bg2"/>
                </a:solidFill>
              </a:rPr>
              <a:t>oints expérimentaux (Reference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B41A0A9-88CF-45BD-9C65-B45B2EC02BA8}"/>
              </a:ext>
            </a:extLst>
          </p:cNvPr>
          <p:cNvGrpSpPr/>
          <p:nvPr/>
        </p:nvGrpSpPr>
        <p:grpSpPr>
          <a:xfrm>
            <a:off x="7082731" y="4500610"/>
            <a:ext cx="2859037" cy="253252"/>
            <a:chOff x="7134523" y="4293096"/>
            <a:chExt cx="2859037" cy="253252"/>
          </a:xfrm>
        </p:grpSpPr>
        <p:pic>
          <p:nvPicPr>
            <p:cNvPr id="11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C01094AE-4BB8-C6DA-8BA4-D82F081AE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9648" y="4300129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064EA8-CE0C-49FC-194B-A257363EA98E}"/>
                </a:ext>
              </a:extLst>
            </p:cNvPr>
            <p:cNvSpPr/>
            <p:nvPr/>
          </p:nvSpPr>
          <p:spPr>
            <a:xfrm>
              <a:off x="7134523" y="4293096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2791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E40DB-583B-FF96-17F6-FBF3A1502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39EF4B0B-1947-8E02-D665-E82D1F7A24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14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6D70E986-919C-B983-2D62-C3CD456E6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>
                <a:effectLst/>
              </a:rPr>
              <a:t>Validation numérique vs. Littérature (PE80/DOC)</a:t>
            </a: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45CBACC4-F694-A271-5FD9-2215AB7B571E}"/>
              </a:ext>
            </a:extLst>
          </p:cNvPr>
          <p:cNvSpPr txBox="1"/>
          <p:nvPr/>
        </p:nvSpPr>
        <p:spPr>
          <a:xfrm>
            <a:off x="1753888" y="4941168"/>
            <a:ext cx="7200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→  </a:t>
            </a:r>
            <a:r>
              <a:rPr lang="fr-FR" b="1" dirty="0"/>
              <a:t>Excellent accord : </a:t>
            </a:r>
            <a:r>
              <a:rPr lang="fr-FR" dirty="0"/>
              <a:t>Le modèle prédit correctement que la formation de produits d'oxydation ([CO]) est confinée à la zone où l'antioxydant (OIT) a été totalement consommé</a:t>
            </a:r>
          </a:p>
          <a:p>
            <a:endParaRPr lang="fr-FR" dirty="0"/>
          </a:p>
          <a:p>
            <a:r>
              <a:rPr lang="fr-FR" dirty="0"/>
              <a:t>→  </a:t>
            </a:r>
            <a:r>
              <a:rPr lang="fr-FR" b="1" dirty="0"/>
              <a:t>Conclusion :</a:t>
            </a:r>
            <a:r>
              <a:rPr lang="fr-FR" dirty="0"/>
              <a:t> Le couplage cinétique fondamental du modèle est validé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2EC8F9-DAAC-B786-E562-63C1189233C1}"/>
              </a:ext>
            </a:extLst>
          </p:cNvPr>
          <p:cNvSpPr txBox="1"/>
          <p:nvPr/>
        </p:nvSpPr>
        <p:spPr>
          <a:xfrm>
            <a:off x="2035638" y="4222615"/>
            <a:ext cx="663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OIT vs temps (PE100, 4.5mm, 40ºC, 66.5ppm DOC)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AB96AC7E-B669-BEF3-99D0-3F0068A167A1}"/>
              </a:ext>
            </a:extLst>
          </p:cNvPr>
          <p:cNvSpPr txBox="1">
            <a:spLocks/>
          </p:cNvSpPr>
          <p:nvPr/>
        </p:nvSpPr>
        <p:spPr bwMode="auto">
          <a:xfrm>
            <a:off x="200472" y="1040486"/>
            <a:ext cx="5832648" cy="253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II. Validation du Couplage Chimie-Oxydation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555460-7EDE-5E01-EBAE-03D0D7D30E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2240" y="1831663"/>
            <a:ext cx="3815256" cy="2415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5EBF51-1339-6518-5B2C-28D98C4E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5" b="4965"/>
          <a:stretch/>
        </p:blipFill>
        <p:spPr>
          <a:xfrm>
            <a:off x="1208584" y="1702270"/>
            <a:ext cx="3672408" cy="24703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02897-75BD-9CDD-C30E-C66FEE206717}"/>
              </a:ext>
            </a:extLst>
          </p:cNvPr>
          <p:cNvSpPr txBox="1"/>
          <p:nvPr/>
        </p:nvSpPr>
        <p:spPr>
          <a:xfrm>
            <a:off x="2576736" y="1455307"/>
            <a:ext cx="1308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Simulation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3F1121-6B9C-D65C-CC91-F3745A536555}"/>
              </a:ext>
            </a:extLst>
          </p:cNvPr>
          <p:cNvSpPr txBox="1"/>
          <p:nvPr/>
        </p:nvSpPr>
        <p:spPr>
          <a:xfrm>
            <a:off x="6308588" y="1461043"/>
            <a:ext cx="2748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2"/>
                </a:solidFill>
              </a:rPr>
              <a:t>P</a:t>
            </a:r>
            <a:r>
              <a:rPr lang="fr-FR" dirty="0">
                <a:solidFill>
                  <a:schemeClr val="bg2"/>
                </a:solidFill>
              </a:rPr>
              <a:t>oints expérimentaux (Reference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1BFE4-A404-4EC4-79DB-5F8219AB5C06}"/>
              </a:ext>
            </a:extLst>
          </p:cNvPr>
          <p:cNvGrpSpPr/>
          <p:nvPr/>
        </p:nvGrpSpPr>
        <p:grpSpPr>
          <a:xfrm>
            <a:off x="7082731" y="4500610"/>
            <a:ext cx="2859037" cy="253252"/>
            <a:chOff x="7134523" y="4293096"/>
            <a:chExt cx="2859037" cy="253252"/>
          </a:xfrm>
        </p:grpSpPr>
        <p:pic>
          <p:nvPicPr>
            <p:cNvPr id="10" name="Picture 2" descr="U:\These_MarquezJP\Activites_Onera\Journees Doctorants Janvier 2018\bibliosimbol.png">
              <a:extLst>
                <a:ext uri="{FF2B5EF4-FFF2-40B4-BE49-F238E27FC236}">
                  <a16:creationId xmlns:a16="http://schemas.microsoft.com/office/drawing/2014/main" id="{4F1D7BB8-EBFC-63DA-4BA1-E49AA5DED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9648" y="4300129"/>
              <a:ext cx="229291" cy="246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8498A5-9C5D-B63B-7E1A-80B1FA004102}"/>
                </a:ext>
              </a:extLst>
            </p:cNvPr>
            <p:cNvSpPr/>
            <p:nvPr/>
          </p:nvSpPr>
          <p:spPr>
            <a:xfrm>
              <a:off x="7134523" y="4293096"/>
              <a:ext cx="285903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ts val="1200"/>
                </a:spcBef>
                <a:spcAft>
                  <a:spcPts val="0"/>
                </a:spcAft>
                <a:buSzPct val="130000"/>
              </a:pPr>
              <a:r>
                <a:rPr lang="da-DK" sz="1000" dirty="0">
                  <a:solidFill>
                    <a:prstClr val="black"/>
                  </a:solidFill>
                  <a:latin typeface="Arial" pitchFamily="34" charset="0"/>
                  <a:ea typeface="ＭＳ Ｐゴシック" pitchFamily="34" charset="-128"/>
                  <a:cs typeface="+mn-cs"/>
                </a:rPr>
                <a:t>Colin et al., 2009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671279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5975-CF3D-BD58-EC15-E0CDF5404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D7B62F14-C30B-5404-3145-6D570D72DF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15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4DE3E27D-D22F-6289-4EB3-5E7A82103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>
                <a:effectLst/>
              </a:rPr>
              <a:t>Confrontation expérimentale vs. Données SUEZ (PE100/</a:t>
            </a:r>
            <a:r>
              <a:rPr lang="fr-FR" sz="2400" dirty="0" err="1">
                <a:effectLst/>
              </a:rPr>
              <a:t>HOCl</a:t>
            </a:r>
            <a:r>
              <a:rPr lang="fr-FR" sz="2400" dirty="0">
                <a:effectLst/>
              </a:rPr>
              <a:t>)</a:t>
            </a: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DFD77514-EB41-5A31-48A3-FC5269CB4665}"/>
              </a:ext>
            </a:extLst>
          </p:cNvPr>
          <p:cNvSpPr txBox="1"/>
          <p:nvPr/>
        </p:nvSpPr>
        <p:spPr>
          <a:xfrm>
            <a:off x="1753889" y="4382376"/>
            <a:ext cx="7200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Observation : </a:t>
            </a:r>
            <a:r>
              <a:rPr lang="fr-FR" dirty="0"/>
              <a:t>Perte d'OIT très limitée sur 9 mois ( ≈ 15%). </a:t>
            </a:r>
          </a:p>
          <a:p>
            <a:endParaRPr lang="fr-FR" b="1" dirty="0"/>
          </a:p>
          <a:p>
            <a:r>
              <a:rPr lang="fr-FR" b="1" dirty="0"/>
              <a:t>Analyse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 modèle (avec DOC=0) simule correctement une perte physique lente.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La cinétique est légèrement surestimée, indiquant que les paramètres de transport du PE80 sont une approximation raisonnable mais perfectible pour le PE100 en film. </a:t>
            </a:r>
          </a:p>
          <a:p>
            <a:endParaRPr lang="fr-FR" b="1" dirty="0"/>
          </a:p>
          <a:p>
            <a:r>
              <a:rPr lang="fr-FR" b="1" dirty="0"/>
              <a:t>Conclusion : </a:t>
            </a:r>
            <a:r>
              <a:rPr lang="fr-FR" dirty="0"/>
              <a:t>Le modèle capture bien la physique de la perte d'antioxydant.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5ACE5-A3B1-FC89-1A17-29514FC25713}"/>
              </a:ext>
            </a:extLst>
          </p:cNvPr>
          <p:cNvSpPr txBox="1"/>
          <p:nvPr/>
        </p:nvSpPr>
        <p:spPr>
          <a:xfrm>
            <a:off x="2035638" y="4058475"/>
            <a:ext cx="663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OIT vs temps en Eau Pure (PE100, 0.4mm, 40ºC)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A8B7C357-9842-0104-56F1-BC8D67B88E80}"/>
              </a:ext>
            </a:extLst>
          </p:cNvPr>
          <p:cNvSpPr txBox="1">
            <a:spLocks/>
          </p:cNvSpPr>
          <p:nvPr/>
        </p:nvSpPr>
        <p:spPr bwMode="auto">
          <a:xfrm>
            <a:off x="819860" y="1124744"/>
            <a:ext cx="5069244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1. Vieillissement en Eau Pure (H₂O)</a:t>
            </a:r>
          </a:p>
        </p:txBody>
      </p:sp>
      <p:pic>
        <p:nvPicPr>
          <p:cNvPr id="21" name="Picture 20" descr="A graph of a graph&#10;&#10;AI-generated content may be incorrect.">
            <a:extLst>
              <a:ext uri="{FF2B5EF4-FFF2-40B4-BE49-F238E27FC236}">
                <a16:creationId xmlns:a16="http://schemas.microsoft.com/office/drawing/2014/main" id="{9ED17523-5D9C-D6F5-5DD5-C710A670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43"/>
          <a:stretch>
            <a:fillRect/>
          </a:stretch>
        </p:blipFill>
        <p:spPr>
          <a:xfrm>
            <a:off x="2947128" y="1386615"/>
            <a:ext cx="4814321" cy="268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4463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23FF-3859-A8DE-808D-889D2489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A755DB10-6EE3-DD29-A0FC-F415402664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16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68B9972D-30FD-4B1B-B01D-49F43CC51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>
                <a:effectLst/>
              </a:rPr>
              <a:t>Confrontation expérimentale vs. Données SUEZ (PE100/</a:t>
            </a:r>
            <a:r>
              <a:rPr lang="fr-FR" sz="2400" dirty="0" err="1">
                <a:effectLst/>
              </a:rPr>
              <a:t>HOCl</a:t>
            </a:r>
            <a:r>
              <a:rPr lang="fr-FR" sz="2400" dirty="0">
                <a:effectLst/>
              </a:rPr>
              <a:t>)</a:t>
            </a: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351E34EA-AA23-8974-8EF5-FC06536DAEC1}"/>
              </a:ext>
            </a:extLst>
          </p:cNvPr>
          <p:cNvSpPr txBox="1"/>
          <p:nvPr/>
        </p:nvSpPr>
        <p:spPr>
          <a:xfrm>
            <a:off x="1753889" y="4382376"/>
            <a:ext cx="7200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Approche :</a:t>
            </a:r>
            <a:r>
              <a:rPr lang="fr-FR" dirty="0"/>
              <a:t> Utilisation d'une concentration </a:t>
            </a:r>
            <a:r>
              <a:rPr lang="fr-FR" b="1" dirty="0"/>
              <a:t>"DOC effectif"</a:t>
            </a:r>
            <a:r>
              <a:rPr lang="fr-FR" dirty="0"/>
              <a:t> pour simuler l'agressivité de l'</a:t>
            </a:r>
            <a:r>
              <a:rPr lang="fr-FR" dirty="0" err="1"/>
              <a:t>HOCl</a:t>
            </a:r>
            <a:r>
              <a:rPr lang="fr-FR" dirty="0"/>
              <a:t> (DOC=1ppm)</a:t>
            </a:r>
          </a:p>
          <a:p>
            <a:endParaRPr lang="fr-FR" b="1" dirty="0"/>
          </a:p>
          <a:p>
            <a:r>
              <a:rPr lang="fr-FR" b="1" dirty="0"/>
              <a:t>Accord qualitatif :</a:t>
            </a:r>
            <a:r>
              <a:rPr lang="fr-FR" dirty="0"/>
              <a:t> Le modèle reproduit la </a:t>
            </a:r>
            <a:r>
              <a:rPr lang="fr-FR" b="1" dirty="0"/>
              <a:t>chute initiale rapide</a:t>
            </a:r>
            <a:r>
              <a:rPr lang="fr-FR" dirty="0"/>
              <a:t> de l'OIT.</a:t>
            </a:r>
          </a:p>
          <a:p>
            <a:endParaRPr lang="fr-FR" dirty="0"/>
          </a:p>
          <a:p>
            <a:r>
              <a:rPr lang="fr-FR" b="1" dirty="0"/>
              <a:t>Désaccord : </a:t>
            </a:r>
            <a:r>
              <a:rPr lang="fr-FR" dirty="0"/>
              <a:t>La cinétique de dégradation à long terme est </a:t>
            </a:r>
            <a:r>
              <a:rPr lang="fr-FR" b="1" dirty="0"/>
              <a:t>surestimée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b="1" dirty="0"/>
              <a:t>Conclusion :</a:t>
            </a:r>
            <a:r>
              <a:rPr lang="fr-FR" dirty="0"/>
              <a:t> L'analogie DOC/</a:t>
            </a:r>
            <a:r>
              <a:rPr lang="fr-FR" dirty="0" err="1"/>
              <a:t>HOCl</a:t>
            </a:r>
            <a:r>
              <a:rPr lang="fr-FR" dirty="0"/>
              <a:t> est </a:t>
            </a:r>
            <a:r>
              <a:rPr lang="fr-FR" b="1" dirty="0"/>
              <a:t>limité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26417-DD52-19A9-4D7B-7A9891B450CE}"/>
              </a:ext>
            </a:extLst>
          </p:cNvPr>
          <p:cNvSpPr txBox="1"/>
          <p:nvPr/>
        </p:nvSpPr>
        <p:spPr>
          <a:xfrm>
            <a:off x="2035638" y="4058475"/>
            <a:ext cx="663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OIT vs temps en HOCL (PE100, 0.4mm, 40ºC, DOC 1ppm)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1C0248A7-376F-133D-1578-D7365C6A5762}"/>
              </a:ext>
            </a:extLst>
          </p:cNvPr>
          <p:cNvSpPr txBox="1">
            <a:spLocks/>
          </p:cNvSpPr>
          <p:nvPr/>
        </p:nvSpPr>
        <p:spPr bwMode="auto">
          <a:xfrm>
            <a:off x="819860" y="1124744"/>
            <a:ext cx="5069244" cy="261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4D9C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400" tIns="50400" rIns="50400" bIns="50400" numCol="1" anchor="ctr" anchorCtr="0" compatLnSpc="1">
            <a:prstTxWarp prst="textNoShape">
              <a:avLst/>
            </a:prstTxWarp>
          </a:bodyPr>
          <a:lstStyle>
            <a:lvl1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+mj-ea"/>
                <a:cs typeface="+mj-cs"/>
                <a:sym typeface="Gill Sans"/>
              </a:defRPr>
            </a:lvl1pPr>
            <a:lvl2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2pPr>
            <a:lvl3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3pPr>
            <a:lvl4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4pPr>
            <a:lvl5pPr algn="ctr" defTabSz="565150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2F425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 MT" panose="020B0502020104020203" pitchFamily="34" charset="0"/>
                <a:ea typeface="ヒラギノ角ゴ ProN W6" pitchFamily="-112" charset="-128"/>
                <a:cs typeface="ヒラギノ角ゴ ProN W6" pitchFamily="-112" charset="-128"/>
                <a:sym typeface="Gill San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100" b="1">
                <a:solidFill>
                  <a:srgbClr val="43628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Gill Sans" pitchFamily="-112" charset="0"/>
                <a:ea typeface="ヒラギノ角ゴ ProN W6" pitchFamily="-112" charset="-128"/>
                <a:cs typeface="ヒラギノ角ゴ ProN W6" pitchFamily="-112" charset="-128"/>
                <a:sym typeface="Gill Sans" pitchFamily="-112" charset="0"/>
              </a:defRPr>
            </a:lvl9pPr>
          </a:lstStyle>
          <a:p>
            <a:r>
              <a:rPr lang="fr-FR" sz="1400" u="sng" kern="0" dirty="0"/>
              <a:t>2. Vieillissement en Eau de Javel (</a:t>
            </a:r>
            <a:r>
              <a:rPr lang="fr-FR" sz="1400" u="sng" kern="0" dirty="0" err="1"/>
              <a:t>HOCl</a:t>
            </a:r>
            <a:r>
              <a:rPr lang="fr-FR" sz="1400" u="sng" kern="0" dirty="0"/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F08F4A9-58DD-BD85-F9F0-13A7940CA2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51" b="3122"/>
          <a:stretch>
            <a:fillRect/>
          </a:stretch>
        </p:blipFill>
        <p:spPr>
          <a:xfrm>
            <a:off x="2947128" y="1484783"/>
            <a:ext cx="4814321" cy="25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11841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EB156-A2FD-178F-4BCF-1B7DB9088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D04132EF-613F-42DF-3786-26CEA17F6D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17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1958B938-C21E-AC5E-7DAD-8FBC46304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ffectLst/>
              </a:rPr>
              <a:t>Impact sur les Propriétés Mécaniques</a:t>
            </a:r>
            <a:endParaRPr lang="fr-FR" sz="2400" b="0" dirty="0">
              <a:effectLst/>
            </a:endParaRP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CFBB866C-C7EC-A743-F0E4-7DD86D2AEE0F}"/>
              </a:ext>
            </a:extLst>
          </p:cNvPr>
          <p:cNvSpPr txBox="1"/>
          <p:nvPr/>
        </p:nvSpPr>
        <p:spPr>
          <a:xfrm>
            <a:off x="1753887" y="5013176"/>
            <a:ext cx="72008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En Eau Pure : </a:t>
            </a:r>
            <a:r>
              <a:rPr lang="fr-FR" dirty="0"/>
              <a:t>Stabilité de l'OIT → Stabilité de l'allongement à la rupture ( ≈ 950%). </a:t>
            </a:r>
            <a:endParaRPr lang="fr-FR" b="1" dirty="0"/>
          </a:p>
          <a:p>
            <a:r>
              <a:rPr lang="fr-FR" dirty="0"/>
              <a:t>Pas de dégradation chimique → Pas de fragilisation. </a:t>
            </a:r>
          </a:p>
          <a:p>
            <a:endParaRPr lang="fr-FR" b="1" dirty="0"/>
          </a:p>
          <a:p>
            <a:r>
              <a:rPr lang="fr-FR" b="1" dirty="0"/>
              <a:t>En Eau de Javel (</a:t>
            </a:r>
            <a:r>
              <a:rPr lang="fr-FR" b="1" dirty="0" err="1"/>
              <a:t>HOCl</a:t>
            </a:r>
            <a:r>
              <a:rPr lang="fr-FR" b="1" dirty="0"/>
              <a:t>) : </a:t>
            </a:r>
            <a:r>
              <a:rPr lang="fr-FR" dirty="0"/>
              <a:t>Chute simultanée de l'OIT et de l'allongement à la rupture. </a:t>
            </a:r>
          </a:p>
          <a:p>
            <a:r>
              <a:rPr lang="fr-FR" dirty="0"/>
              <a:t>La dégradation chimique gouverne directement la fragilisation du matériau.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A8A77-6E3B-6197-8FB7-2A17A87F87E9}"/>
              </a:ext>
            </a:extLst>
          </p:cNvPr>
          <p:cNvSpPr txBox="1"/>
          <p:nvPr/>
        </p:nvSpPr>
        <p:spPr>
          <a:xfrm>
            <a:off x="2035638" y="4058475"/>
            <a:ext cx="6637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2"/>
                </a:solidFill>
              </a:rPr>
              <a:t>OIT vs temps en HOCL (PE100, 0.4mm, 40ºC, DOC 1ppm)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0593B85-4227-510F-48EF-142D76BC8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268" b="-1831"/>
          <a:stretch>
            <a:fillRect/>
          </a:stretch>
        </p:blipFill>
        <p:spPr>
          <a:xfrm>
            <a:off x="2390740" y="1504530"/>
            <a:ext cx="5615319" cy="3312368"/>
          </a:xfrm>
          <a:prstGeom prst="rect">
            <a:avLst/>
          </a:prstGeom>
        </p:spPr>
      </p:pic>
      <p:sp>
        <p:nvSpPr>
          <p:cNvPr id="2" name="ZoneTexte 9">
            <a:extLst>
              <a:ext uri="{FF2B5EF4-FFF2-40B4-BE49-F238E27FC236}">
                <a16:creationId xmlns:a16="http://schemas.microsoft.com/office/drawing/2014/main" id="{BD416E28-CAD7-381E-D1C7-E760786C9B9E}"/>
              </a:ext>
            </a:extLst>
          </p:cNvPr>
          <p:cNvSpPr txBox="1"/>
          <p:nvPr/>
        </p:nvSpPr>
        <p:spPr>
          <a:xfrm>
            <a:off x="1920322" y="1012750"/>
            <a:ext cx="68679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384F70"/>
                </a:solidFill>
                <a:latin typeface="Gill Sans MT" panose="020B0502020104020203" pitchFamily="34" charset="0"/>
                <a:ea typeface="ヒラギノ角ゴ ProN W3"/>
                <a:cs typeface="ヒラギノ角ゴ ProN W3"/>
                <a:sym typeface="Gill Sans"/>
              </a:defRPr>
            </a:lvl9pPr>
          </a:lstStyle>
          <a:p>
            <a:r>
              <a:rPr lang="fr-FR" dirty="0"/>
              <a:t>L'analyse finale consiste à corréler la dégradation chimique (OIT) à la dégradation mécanique (Allongement à la rupture, </a:t>
            </a:r>
            <a:r>
              <a:rPr lang="fr-FR" dirty="0" err="1"/>
              <a:t>εr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450900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EB49-D5B8-11FA-07A6-693A7CB5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F7E9F691-69A5-6C5C-BA10-9BEF61A3D0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18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357BFC4F-B4CD-CD8A-6E4B-9F82EAD63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ffectLst/>
              </a:rPr>
              <a:t>Conclusion</a:t>
            </a:r>
            <a:endParaRPr lang="fr-FR" b="0" dirty="0">
              <a:effectLst/>
            </a:endParaRP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74899D83-AB00-BA9C-6D51-7671AD4B5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6952" y="1535826"/>
            <a:ext cx="8064896" cy="4104456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fr-FR" altLang="fr-FR" sz="1800" dirty="0"/>
              <a:t>L'outil numérique de simulation du modèle cinétique, développé en Python, a été validé avec succès par rapport aux données de la littérature. </a:t>
            </a:r>
          </a:p>
          <a:p>
            <a:pPr marL="457200" indent="-457200" algn="l">
              <a:buFont typeface="+mj-lt"/>
              <a:buAutoNum type="arabicPeriod"/>
            </a:pPr>
            <a:endParaRPr lang="fr-FR" altLang="fr-FR" sz="1800" dirty="0"/>
          </a:p>
          <a:p>
            <a:pPr marL="457200" indent="-457200" algn="l">
              <a:buFont typeface="+mj-lt"/>
              <a:buAutoNum type="arabicPeriod"/>
            </a:pPr>
            <a:r>
              <a:rPr lang="fr-FR" altLang="fr-FR" sz="1800" dirty="0"/>
              <a:t>Le modèle, avec ses paramètres d'origine, capture correctement la perte physique d'antioxydant (cas de l'eau pure) mais montre ses limites pour prédire la chimie complexe de l'</a:t>
            </a:r>
            <a:r>
              <a:rPr lang="fr-FR" altLang="fr-FR" sz="1800" dirty="0" err="1"/>
              <a:t>HOCl</a:t>
            </a:r>
            <a:r>
              <a:rPr lang="fr-FR" altLang="fr-FR" sz="1800" dirty="0"/>
              <a:t>.</a:t>
            </a:r>
          </a:p>
          <a:p>
            <a:pPr marL="457200" indent="-457200" algn="l">
              <a:buFont typeface="+mj-lt"/>
              <a:buAutoNum type="arabicPeriod"/>
            </a:pPr>
            <a:endParaRPr lang="fr-FR" altLang="fr-FR" sz="1800" dirty="0"/>
          </a:p>
          <a:p>
            <a:pPr marL="457200" indent="-457200" algn="l">
              <a:buFont typeface="+mj-lt"/>
              <a:buAutoNum type="arabicPeriod"/>
            </a:pPr>
            <a:r>
              <a:rPr lang="fr-FR" altLang="fr-FR" sz="1800" dirty="0"/>
              <a:t>Une corrélation expérimentale directe entre la dégradation chimique (chute d'OIT) et la fragilisation mécanique (chute de </a:t>
            </a:r>
            <a:r>
              <a:rPr lang="fr-FR" altLang="fr-FR" sz="1800" dirty="0" err="1"/>
              <a:t>εr</a:t>
            </a:r>
            <a:r>
              <a:rPr lang="fr-FR" altLang="fr-FR" sz="1800" dirty="0"/>
              <a:t>​) a été mise en évidence, validant l'hypothèse fondamentale du couplage mécano-chimique.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981150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FCF49-0AB3-8133-B244-0D995B4A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">
            <a:extLst>
              <a:ext uri="{FF2B5EF4-FFF2-40B4-BE49-F238E27FC236}">
                <a16:creationId xmlns:a16="http://schemas.microsoft.com/office/drawing/2014/main" id="{CAF2D7EC-7BCD-36D0-9141-1E19D18346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/>
          <a:p>
            <a:fld id="{FEC831AA-4551-4603-8375-5CDF4CF2DB53}" type="slidenum">
              <a:rPr lang="fr-FR" altLang="fr-FR"/>
              <a:pPr/>
              <a:t>19</a:t>
            </a:fld>
            <a:endParaRPr lang="fr-FR" altLang="fr-FR"/>
          </a:p>
        </p:txBody>
      </p:sp>
      <p:sp>
        <p:nvSpPr>
          <p:cNvPr id="235522" name="Rectangle 2">
            <a:extLst>
              <a:ext uri="{FF2B5EF4-FFF2-40B4-BE49-F238E27FC236}">
                <a16:creationId xmlns:a16="http://schemas.microsoft.com/office/drawing/2014/main" id="{0009E91F-9FD2-F58D-9A41-65F4C2F60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effectLst/>
              </a:rPr>
              <a:t>Perspectives</a:t>
            </a:r>
            <a:endParaRPr lang="fr-FR" b="0" dirty="0">
              <a:effectLst/>
            </a:endParaRPr>
          </a:p>
        </p:txBody>
      </p:sp>
      <p:sp>
        <p:nvSpPr>
          <p:cNvPr id="235523" name="Rectangle 3">
            <a:extLst>
              <a:ext uri="{FF2B5EF4-FFF2-40B4-BE49-F238E27FC236}">
                <a16:creationId xmlns:a16="http://schemas.microsoft.com/office/drawing/2014/main" id="{D578983B-4775-3BEE-E309-936EB9F63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6952" y="1535826"/>
            <a:ext cx="8064896" cy="4104456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r>
              <a:rPr lang="fr-FR" altLang="fr-FR" sz="1800" b="1" dirty="0"/>
              <a:t>À court terme : </a:t>
            </a:r>
          </a:p>
          <a:p>
            <a:pPr marL="0" indent="0" algn="l"/>
            <a:r>
              <a:rPr lang="fr-FR" altLang="fr-FR" sz="1800" dirty="0"/>
              <a:t>Mener une étude de sensibilité sur les paramètres clés D(DOC), k(8d) pour améliorer l'ajustement quantitatif du modèle. </a:t>
            </a:r>
          </a:p>
          <a:p>
            <a:pPr marL="0" indent="0" algn="l"/>
            <a:endParaRPr lang="fr-FR" altLang="fr-FR" sz="1800" dirty="0"/>
          </a:p>
          <a:p>
            <a:pPr marL="0" indent="0" algn="l"/>
            <a:r>
              <a:rPr lang="fr-FR" altLang="fr-FR" sz="1800" b="1" dirty="0"/>
              <a:t>II.  À long terme : </a:t>
            </a:r>
          </a:p>
          <a:p>
            <a:pPr marL="0" indent="0" algn="l"/>
            <a:r>
              <a:rPr lang="fr-FR" dirty="0"/>
              <a:t>L'agressivité de l'</a:t>
            </a:r>
            <a:r>
              <a:rPr lang="fr-FR" dirty="0" err="1"/>
              <a:t>HOCl</a:t>
            </a:r>
            <a:r>
              <a:rPr lang="fr-FR" dirty="0"/>
              <a:t> semble évoluer  d'implémenter un</a:t>
            </a:r>
            <a:r>
              <a:rPr lang="fr-FR" b="1" dirty="0"/>
              <a:t> </a:t>
            </a:r>
            <a:r>
              <a:rPr lang="fr-FR" dirty="0"/>
              <a:t>"DOC effectif" qui ne serait plus constant, mais une fonction du temps. </a:t>
            </a:r>
            <a:endParaRPr lang="fr-FR" altLang="fr-FR" sz="1800" dirty="0"/>
          </a:p>
          <a:p>
            <a:pPr marL="0" indent="0" algn="l"/>
            <a:endParaRPr lang="fr-FR" altLang="fr-FR" sz="1800" dirty="0"/>
          </a:p>
          <a:p>
            <a:pPr marL="0" indent="0" algn="l"/>
            <a:r>
              <a:rPr lang="fr-FR" altLang="fr-FR" sz="1800" dirty="0"/>
              <a:t>Valider le Niveau 3 (mécanique) du modèle en confrontant les temps de rupture simulés à des essais de traction.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30782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lculs - titre">
  <a:themeElements>
    <a:clrScheme name="">
      <a:dk1>
        <a:srgbClr val="384F70"/>
      </a:dk1>
      <a:lt1>
        <a:srgbClr val="C7B08F"/>
      </a:lt1>
      <a:dk2>
        <a:srgbClr val="000000"/>
      </a:dk2>
      <a:lt2>
        <a:srgbClr val="000000"/>
      </a:lt2>
      <a:accent1>
        <a:srgbClr val="FFFFFF"/>
      </a:accent1>
      <a:accent2>
        <a:srgbClr val="333399"/>
      </a:accent2>
      <a:accent3>
        <a:srgbClr val="E0D4C6"/>
      </a:accent3>
      <a:accent4>
        <a:srgbClr val="2E425F"/>
      </a:accent4>
      <a:accent5>
        <a:srgbClr val="FF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Calculs - titre">
      <a:majorFont>
        <a:latin typeface="Gill Sans"/>
        <a:ea typeface="ヒラギノ角ゴ ProN W6"/>
        <a:cs typeface="ヒラギノ角ゴ ProN W6"/>
      </a:majorFont>
      <a:minorFont>
        <a:latin typeface="Gill Sans"/>
        <a:ea typeface="ヒラギノ角ゴ ProN W6"/>
        <a:cs typeface="ヒラギノ角ゴ ProN W6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>
            <a:ln>
              <a:noFill/>
            </a:ln>
            <a:solidFill>
              <a:srgbClr val="384F70"/>
            </a:solidFill>
            <a:effectLst/>
            <a:latin typeface="Gill Sans" pitchFamily="-112" charset="0"/>
            <a:ea typeface="ヒラギノ角ゴ ProN W3" pitchFamily="-112" charset="-128"/>
            <a:cs typeface="ヒラギノ角ゴ ProN W3" pitchFamily="-112" charset="-128"/>
            <a:sym typeface="Gill Sans" pitchFamily="-1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>
            <a:ln>
              <a:noFill/>
            </a:ln>
            <a:solidFill>
              <a:srgbClr val="384F70"/>
            </a:solidFill>
            <a:effectLst/>
            <a:latin typeface="Gill Sans" pitchFamily="-112" charset="0"/>
            <a:ea typeface="ヒラギノ角ゴ ProN W3" pitchFamily="-112" charset="-128"/>
            <a:cs typeface="ヒラギノ角ゴ ProN W3" pitchFamily="-112" charset="-128"/>
            <a:sym typeface="Gill Sans" pitchFamily="-112" charset="0"/>
          </a:defRPr>
        </a:defPPr>
      </a:lstStyle>
    </a:lnDef>
  </a:objectDefaults>
  <a:extraClrSchemeLst>
    <a:extraClrScheme>
      <a:clrScheme name="Calculs - titr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uls - titr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lculs - titre 2">
        <a:dk1>
          <a:srgbClr val="384F70"/>
        </a:dk1>
        <a:lt1>
          <a:srgbClr val="C7B08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333399"/>
        </a:accent2>
        <a:accent3>
          <a:srgbClr val="E0D4C6"/>
        </a:accent3>
        <a:accent4>
          <a:srgbClr val="2E425F"/>
        </a:accent4>
        <a:accent5>
          <a:srgbClr val="FFFFF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B4A75AD0BD9F4280810814D1835A1C" ma:contentTypeVersion="14" ma:contentTypeDescription="Crée un document." ma:contentTypeScope="" ma:versionID="e078997b10c961f0d8a2a8d20002d20e">
  <xsd:schema xmlns:xsd="http://www.w3.org/2001/XMLSchema" xmlns:xs="http://www.w3.org/2001/XMLSchema" xmlns:p="http://schemas.microsoft.com/office/2006/metadata/properties" xmlns:ns3="19c5b4f5-171c-4c41-87fa-473d0e852482" xmlns:ns4="9d728e6f-aec8-47b4-a657-c29055b2d01f" targetNamespace="http://schemas.microsoft.com/office/2006/metadata/properties" ma:root="true" ma:fieldsID="90253934bbb510d89a3df670ae69d2c0" ns3:_="" ns4:_="">
    <xsd:import namespace="19c5b4f5-171c-4c41-87fa-473d0e852482"/>
    <xsd:import namespace="9d728e6f-aec8-47b4-a657-c29055b2d01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c5b4f5-171c-4c41-87fa-473d0e85248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728e6f-aec8-47b4-a657-c29055b2d0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9134A6-8ECA-41C1-BEAE-5E83C31A4086}">
  <ds:schemaRefs>
    <ds:schemaRef ds:uri="http://purl.org/dc/dcmitype/"/>
    <ds:schemaRef ds:uri="http://schemas.microsoft.com/office/infopath/2007/PartnerControls"/>
    <ds:schemaRef ds:uri="19c5b4f5-171c-4c41-87fa-473d0e852482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9d728e6f-aec8-47b4-a657-c29055b2d01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C3E729D-1630-4559-A606-D0EC400005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c5b4f5-171c-4c41-87fa-473d0e852482"/>
    <ds:schemaRef ds:uri="9d728e6f-aec8-47b4-a657-c29055b2d0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05DA96-0BAD-4AE4-B492-383CF443DD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45958</TotalTime>
  <Pages>0</Pages>
  <Words>1909</Words>
  <Characters>0</Characters>
  <Application>Microsoft Office PowerPoint</Application>
  <PresentationFormat>A4 Paper (210x297 mm)</PresentationFormat>
  <Lines>0</Lines>
  <Paragraphs>241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Gill Sans</vt:lpstr>
      <vt:lpstr>Gill Sans MT</vt:lpstr>
      <vt:lpstr>Times New Roman</vt:lpstr>
      <vt:lpstr>Wingdings</vt:lpstr>
      <vt:lpstr>Calculs - titre</vt:lpstr>
      <vt:lpstr>Modélisation de la Dégradation et Prédiction de la Durée de Vie de Canalisations en Polyéthylène Exposées aux Désinfectants Chlorés</vt:lpstr>
      <vt:lpstr>Plan </vt:lpstr>
      <vt:lpstr>Contexte : Dégradation des Canalisations PE</vt:lpstr>
      <vt:lpstr>I. Contexte : Objectifs</vt:lpstr>
      <vt:lpstr>II. Démarche : Le Modèle de Référence</vt:lpstr>
      <vt:lpstr>Niveau 1 : Dégradation chimique</vt:lpstr>
      <vt:lpstr>Niveau 2 : Chute de Masse Molaire</vt:lpstr>
      <vt:lpstr>II. Démarche : Calcul des Grandeurs d'Intérêt</vt:lpstr>
      <vt:lpstr>II. Démarche : Implémentation Numérique</vt:lpstr>
      <vt:lpstr>II. Démarche : Implémentation Numérique</vt:lpstr>
      <vt:lpstr>II. Démarche : Implémentation Numérique</vt:lpstr>
      <vt:lpstr>III. Résultats : Résultats préliminaires</vt:lpstr>
      <vt:lpstr>Validation numérique vs. Littérature (PE80/DOC)</vt:lpstr>
      <vt:lpstr>Validation numérique vs. Littérature (PE80/DOC)</vt:lpstr>
      <vt:lpstr>Confrontation expérimentale vs. Données SUEZ (PE100/HOCl)</vt:lpstr>
      <vt:lpstr>Confrontation expérimentale vs. Données SUEZ (PE100/HOCl)</vt:lpstr>
      <vt:lpstr>Impact sur les Propriétés Mécaniques</vt:lpstr>
      <vt:lpstr>Conclusion</vt:lpstr>
      <vt:lpstr>Perspectives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MAGIS-Paris  - 29 Septembre 2009</dc:title>
  <dc:subject/>
  <dc:creator>COLIN Xavier</dc:creator>
  <cp:keywords/>
  <dc:description/>
  <cp:lastModifiedBy>BENMALK Achraf</cp:lastModifiedBy>
  <cp:revision>319</cp:revision>
  <dcterms:modified xsi:type="dcterms:W3CDTF">2025-07-03T11:51:48Z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0x010100D0B4A75AD0BD9F4280810814D1835A1C</vt:lpwstr>
  </property>
</Properties>
</file>